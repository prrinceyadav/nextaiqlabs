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1" r:id="rId22"/>
    <p:sldId id="272" r:id="rId23"/>
    <p:sldId id="273" r:id="rId24"/>
    <p:sldId id="274" r:id="rId25"/>
    <p:sldId id="275" r:id="rId26"/>
    <p:sldId id="276" r:id="rId27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image" Target="../media/image39.png"/><Relationship Id="rId21" Type="http://schemas.openxmlformats.org/officeDocument/2006/relationships/image" Target="../media/image40.png"/><Relationship Id="rId22" Type="http://schemas.openxmlformats.org/officeDocument/2006/relationships/image" Target="../media/image41.png"/><Relationship Id="rId2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43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Relationship Id="rId16" Type="http://schemas.openxmlformats.org/officeDocument/2006/relationships/image" Target="../media/image61.png"/><Relationship Id="rId17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1.png"/><Relationship Id="rId16" Type="http://schemas.openxmlformats.org/officeDocument/2006/relationships/image" Target="../media/image72.png"/><Relationship Id="rId17" Type="http://schemas.openxmlformats.org/officeDocument/2006/relationships/image" Target="../media/image73.png"/><Relationship Id="rId18" Type="http://schemas.openxmlformats.org/officeDocument/2006/relationships/image" Target="../media/image74.png"/><Relationship Id="rId19" Type="http://schemas.openxmlformats.org/officeDocument/2006/relationships/image" Target="../media/image75.png"/><Relationship Id="rId20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image" Target="../media/image82.png"/><Relationship Id="rId15" Type="http://schemas.openxmlformats.org/officeDocument/2006/relationships/image" Target="../media/image83.png"/><Relationship Id="rId16" Type="http://schemas.openxmlformats.org/officeDocument/2006/relationships/image" Target="../media/image84.png"/><Relationship Id="rId17" Type="http://schemas.openxmlformats.org/officeDocument/2006/relationships/image" Target="../media/image85.png"/><Relationship Id="rId18" Type="http://schemas.openxmlformats.org/officeDocument/2006/relationships/image" Target="../media/image86.png"/><Relationship Id="rId19" Type="http://schemas.openxmlformats.org/officeDocument/2006/relationships/image" Target="../media/image87.png"/><Relationship Id="rId20" Type="http://schemas.openxmlformats.org/officeDocument/2006/relationships/image" Target="../media/image88.png"/><Relationship Id="rId21" Type="http://schemas.openxmlformats.org/officeDocument/2006/relationships/image" Target="../media/image89.png"/><Relationship Id="rId22" Type="http://schemas.openxmlformats.org/officeDocument/2006/relationships/image" Target="../media/image90.png"/><Relationship Id="rId23" Type="http://schemas.openxmlformats.org/officeDocument/2006/relationships/image" Target="../media/image91.png"/><Relationship Id="rId24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914400" y="0"/>
            <a:ext cx="4572000" cy="4572000"/>
          </a:xfrm>
          <a:prstGeom prst="ellipse">
            <a:avLst/>
          </a:prstGeom>
          <a:solidFill>
            <a:srgbClr val="1A2A55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2A1545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4572000"/>
            <a:ext cx="3657600" cy="2743200"/>
          </a:xfrm>
          <a:prstGeom prst="ellipse">
            <a:avLst/>
          </a:prstGeom>
          <a:solidFill>
            <a:srgbClr val="1A2A5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_ne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57200"/>
            <a:ext cx="4846320" cy="484632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828800" cy="411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377440" y="3017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5A5EF7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EDU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●  NextAIQ-Edu · AI for Indian Schools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The Future of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A855F7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Is Powered by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Transforming how Indian schools teach technology — industrial-grade AI, hands-on smart labs, and CBSE-aligned curriculum.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5A5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Discover NextAIQ-Edu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480560"/>
            <a:ext cx="2286000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Become a Partner School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500+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97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SCHOOLS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897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JOBS NEED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10x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897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ENGAGEMENT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3657600" y="-914400"/>
            <a:ext cx="4572000" cy="3657600"/>
          </a:xfrm>
          <a:prstGeom prst="ellipse">
            <a:avLst/>
          </a:prstGeom>
          <a:solidFill>
            <a:srgbClr val="2A1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13197" y="457200"/>
            <a:ext cx="17653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The Current Skill Gap in Indian Schools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Traditional education is falling behind. Students are entering a workforce that demands AI literacy — but schools aren't equipped.</a:t>
            </a:r>
          </a:p>
        </p:txBody>
      </p:sp>
      <p:pic>
        <p:nvPicPr>
          <p:cNvPr id="6" name="Picture 5" descr="india_e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60320"/>
            <a:ext cx="393192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2651760"/>
            <a:ext cx="6858000" cy="123444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Schools Lack AI Curriculum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No structured AI or ML modules in K-12.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6858000" cy="123444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60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3.5M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Unfilled STEM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26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Graduates lack practical AI experience.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6858000" cy="123444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D3EE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5 yrs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Curriculum 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943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Schools 5+ years behind industry tech.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1A2A5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2743200"/>
            <a:ext cx="3657600" cy="3657600"/>
          </a:xfrm>
          <a:prstGeom prst="ellipse">
            <a:avLst/>
          </a:prstGeom>
          <a:solidFill>
            <a:srgbClr val="2A154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84597" y="457200"/>
            <a:ext cx="22225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Why Industrial AI Exposure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Real-world AI builds critical thinking, problem-solving, and innovation mindsets.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5303520" cy="1874519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Real-World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2004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Industrial AI shows students how AI works in factories, hospitals, and cities.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60320"/>
            <a:ext cx="5303520" cy="1874519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Future-Proof Careers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2004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Students who understand neural networks and edge computing will lead every industry.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5303520" cy="1874519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🇮🇳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India's AI Advantage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3035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With right AI education, India can become the world's #1 AI talent pool by 2030.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663440"/>
            <a:ext cx="5303520" cy="1874519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CBSE &amp; NEP 2020 Aligned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53035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Curriculum aligns with NEP 2020's vision of computational thinking.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4572000" y="0"/>
            <a:ext cx="3657600" cy="2743200"/>
          </a:xfrm>
          <a:prstGeom prst="ellipse">
            <a:avLst/>
          </a:prstGeom>
          <a:solidFill>
            <a:srgbClr val="2A1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56047" y="457200"/>
            <a:ext cx="18796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Introducing NextAIQ-Edu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A comprehensive AI education platform bringing industry-grade technology into Indian schools.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512064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120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🎯  AI-First Curriculum for Grades 6-12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ML, CV, NLP, Robotics · Python &amp; TensorFlow · Project-based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60320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mart_lab_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0"/>
            <a:ext cx="512064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0" y="5120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🔬  Smart Lab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486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GPU workstations · IoT kits · Robotics · NVIDIA Jetson · Cloud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Rectangle 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_pptx_img_5_4402689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Picture 2" descr="_pptx_img_5_4406399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4" name="Picture 3" descr="_pptx_img_5_44065318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-1828800"/>
            <a:ext cx="5029200" cy="5029200"/>
          </a:xfrm>
          <a:prstGeom prst="rect">
            <a:avLst/>
          </a:prstGeom>
        </p:spPr>
      </p:pic>
      <p:pic>
        <p:nvPicPr>
          <p:cNvPr id="5" name="Picture 4" descr="_pptx_img_5_44062888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3200400"/>
            <a:ext cx="3657600" cy="3657600"/>
          </a:xfrm>
          <a:prstGeom prst="rect">
            <a:avLst/>
          </a:prstGeom>
        </p:spPr>
      </p:pic>
      <p:pic>
        <p:nvPicPr>
          <p:cNvPr id="6" name="Picture 5" descr="_pptx_img_5_44062916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914400"/>
            <a:ext cx="2286000" cy="2286000"/>
          </a:xfrm>
          <a:prstGeom prst="rect">
            <a:avLst/>
          </a:prstGeom>
        </p:spPr>
      </p:pic>
      <p:pic>
        <p:nvPicPr>
          <p:cNvPr id="7" name="Picture 6" descr="_pptx_img_5_440653294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 nextaiQ-edu Smart AI Lab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hands-on Industrial AI exposure program designed for Grades 6–12</a:t>
            </a:r>
            <a:endParaRPr lang="en-US" sz="1300" dirty="0"/>
          </a:p>
        </p:txBody>
      </p:sp>
      <p:pic>
        <p:nvPicPr>
          <p:cNvPr id="11" name="Picture 10" descr="_pptx_img_5_44065330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</p:spPr>
      </p:pic>
      <p:pic>
        <p:nvPicPr>
          <p:cNvPr id="12" name="Picture 11" descr="_pptx_img_5_440653376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2377440"/>
            <a:ext cx="6217920" cy="105156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685800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000" dirty="0"/>
          </a:p>
        </p:txBody>
      </p:sp>
      <p:sp>
        <p:nvSpPr>
          <p:cNvPr id="14" name="Text 4"/>
          <p:cNvSpPr/>
          <p:nvPr/>
        </p:nvSpPr>
        <p:spPr>
          <a:xfrm>
            <a:off x="685800" y="28346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gap between academic knowledge and industrial AI — bringing real-world tools, frameworks, and mentorship directly into the classroom.</a:t>
            </a:r>
            <a:endParaRPr lang="en-US" sz="1200" dirty="0"/>
          </a:p>
        </p:txBody>
      </p:sp>
      <p:pic>
        <p:nvPicPr>
          <p:cNvPr id="15" name="Picture 14" descr="_pptx_img_5_440653256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3657600"/>
            <a:ext cx="2926080" cy="566928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502920" y="365760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Hands-On AI Solution</a:t>
            </a:r>
            <a:endParaRPr lang="en-US" sz="1300" dirty="0"/>
          </a:p>
        </p:txBody>
      </p:sp>
      <p:pic>
        <p:nvPicPr>
          <p:cNvPr id="17" name="Picture 16" descr="_pptx_img_5_440653318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9040" y="3657600"/>
            <a:ext cx="2926080" cy="566928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3749040" y="365760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Industry-Grade Tools and Exposer</a:t>
            </a:r>
            <a:endParaRPr lang="en-US" sz="1300" dirty="0"/>
          </a:p>
        </p:txBody>
      </p:sp>
      <p:pic>
        <p:nvPicPr>
          <p:cNvPr id="19" name="Picture 18" descr="_pptx_img_5_440653563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" y="4370832"/>
            <a:ext cx="2926080" cy="566928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502920" y="43708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AI Instructors</a:t>
            </a:r>
            <a:endParaRPr lang="en-US" sz="1300" dirty="0"/>
          </a:p>
        </p:txBody>
      </p:sp>
      <p:pic>
        <p:nvPicPr>
          <p:cNvPr id="21" name="Picture 20" descr="_pptx_img_5_44065360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49040" y="4370832"/>
            <a:ext cx="2926080" cy="566928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3749040" y="43708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Live Project Experience</a:t>
            </a:r>
            <a:endParaRPr lang="en-US" sz="1300" dirty="0"/>
          </a:p>
        </p:txBody>
      </p:sp>
      <p:pic>
        <p:nvPicPr>
          <p:cNvPr id="23" name="Picture 22" descr="_pptx_img_5_440653640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0" y="2057400"/>
            <a:ext cx="4389120" cy="443484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8686800" y="25603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FFFFFF"/>
                </a:solidFill>
              </a:rPr>
              <a:t>🎓</a:t>
            </a:r>
            <a:endParaRPr lang="en-US" sz="5500" dirty="0"/>
          </a:p>
        </p:txBody>
      </p:sp>
      <p:sp>
        <p:nvSpPr>
          <p:cNvPr id="25" name="Text 10"/>
          <p:cNvSpPr/>
          <p:nvPr/>
        </p:nvSpPr>
        <p:spPr>
          <a:xfrm>
            <a:off x="7498080" y="36118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6–12</a:t>
            </a:r>
            <a:endParaRPr lang="en-US" sz="2000" dirty="0"/>
          </a:p>
        </p:txBody>
      </p:sp>
      <p:sp>
        <p:nvSpPr>
          <p:cNvPr id="26" name="Text 11"/>
          <p:cNvSpPr/>
          <p:nvPr/>
        </p:nvSpPr>
        <p:spPr>
          <a:xfrm>
            <a:off x="7498080" y="4206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240+ Hours of Learning</a:t>
            </a:r>
            <a:endParaRPr lang="en-US" sz="1400" dirty="0"/>
          </a:p>
        </p:txBody>
      </p:sp>
      <p:pic>
        <p:nvPicPr>
          <p:cNvPr id="27" name="Picture 26" descr="_pptx_img_5_440653668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0" y="4709160"/>
            <a:ext cx="2560320" cy="164592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7498080" y="49377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Industry-Aligned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400" dirty="0"/>
          </a:p>
        </p:txBody>
      </p:sp>
      <p:pic>
        <p:nvPicPr>
          <p:cNvPr id="29" name="Picture 28" descr="_pptx_img_5_440653726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Rectangle 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_pptx_img_6_44063997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Picture 2" descr="_pptx_img_5_4406399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4" name="Picture 3" descr="_pptx_img_6_44065389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1600" y="-1371600"/>
            <a:ext cx="5943600" cy="5943600"/>
          </a:xfrm>
          <a:prstGeom prst="rect">
            <a:avLst/>
          </a:prstGeom>
        </p:spPr>
      </p:pic>
      <p:pic>
        <p:nvPicPr>
          <p:cNvPr id="5" name="Picture 4" descr="_pptx_img_6_44065374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286000"/>
            <a:ext cx="5029200" cy="5029200"/>
          </a:xfrm>
          <a:prstGeom prst="rect">
            <a:avLst/>
          </a:prstGeom>
        </p:spPr>
      </p:pic>
      <p:pic>
        <p:nvPicPr>
          <p:cNvPr id="6" name="Picture 5" descr="_pptx_img_6_44065348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92608"/>
            <a:ext cx="1043054" cy="3474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4360" y="292608"/>
            <a:ext cx="104305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100" dirty="0"/>
          </a:p>
        </p:txBody>
      </p:sp>
      <p:sp>
        <p:nvSpPr>
          <p:cNvPr id="8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Institutional AI Ecosystem</a:t>
            </a:r>
            <a:endParaRPr lang="en-US" sz="3600" dirty="0"/>
          </a:p>
        </p:txBody>
      </p:sp>
      <p:sp>
        <p:nvSpPr>
          <p:cNvPr id="9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NextAIQ Edu is not a workshop program — it is a comprehensive AI integration framework for schools.</a:t>
            </a:r>
            <a:endParaRPr lang="en-US" sz="1300" dirty="0"/>
          </a:p>
        </p:txBody>
      </p:sp>
      <p:pic>
        <p:nvPicPr>
          <p:cNvPr id="10" name="Picture 9" descr="_pptx_img_6_44065358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</p:spPr>
      </p:pic>
      <p:pic>
        <p:nvPicPr>
          <p:cNvPr id="11" name="Picture 10" descr="_pptx_img_6_44065346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" y="2194560"/>
            <a:ext cx="2761488" cy="1993392"/>
          </a:xfrm>
          <a:prstGeom prst="rect">
            <a:avLst/>
          </a:prstGeom>
        </p:spPr>
      </p:pic>
      <p:pic>
        <p:nvPicPr>
          <p:cNvPr id="12" name="Picture 11" descr="_pptx_img_6_440653337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395728"/>
            <a:ext cx="502920" cy="50292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512064" y="303580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Leadership Seminars</a:t>
            </a:r>
            <a:endParaRPr lang="en-US" sz="1300" dirty="0"/>
          </a:p>
        </p:txBody>
      </p:sp>
      <p:sp>
        <p:nvSpPr>
          <p:cNvPr id="14" name="Text 4"/>
          <p:cNvSpPr/>
          <p:nvPr/>
        </p:nvSpPr>
        <p:spPr>
          <a:xfrm>
            <a:off x="512064" y="3703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sessions/month</a:t>
            </a:r>
            <a:endParaRPr lang="en-US" sz="1100" dirty="0"/>
          </a:p>
        </p:txBody>
      </p:sp>
      <p:pic>
        <p:nvPicPr>
          <p:cNvPr id="15" name="Picture 14" descr="_pptx_img_6_440653539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0984" y="2194560"/>
            <a:ext cx="2761488" cy="1993392"/>
          </a:xfrm>
          <a:prstGeom prst="rect">
            <a:avLst/>
          </a:prstGeom>
        </p:spPr>
      </p:pic>
      <p:pic>
        <p:nvPicPr>
          <p:cNvPr id="16" name="Picture 15" descr="_pptx_img_6_44065361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2152" y="2395728"/>
            <a:ext cx="502920" cy="50292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3465576" y="303580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Exposure Visits</a:t>
            </a:r>
            <a:endParaRPr lang="en-US" sz="1300" dirty="0"/>
          </a:p>
        </p:txBody>
      </p:sp>
      <p:sp>
        <p:nvSpPr>
          <p:cNvPr id="18" name="Text 6"/>
          <p:cNvSpPr/>
          <p:nvPr/>
        </p:nvSpPr>
        <p:spPr>
          <a:xfrm>
            <a:off x="3465576" y="3703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structured visit/month</a:t>
            </a:r>
            <a:endParaRPr lang="en-US" sz="1100" dirty="0"/>
          </a:p>
        </p:txBody>
      </p:sp>
      <p:pic>
        <p:nvPicPr>
          <p:cNvPr id="19" name="Picture 18" descr="_pptx_img_6_440654052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4496" y="2194560"/>
            <a:ext cx="2761488" cy="1993392"/>
          </a:xfrm>
          <a:prstGeom prst="rect">
            <a:avLst/>
          </a:prstGeom>
        </p:spPr>
      </p:pic>
      <p:pic>
        <p:nvPicPr>
          <p:cNvPr id="20" name="Picture 19" descr="_pptx_img_6_440653160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5664" y="2395728"/>
            <a:ext cx="502920" cy="50292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419088" y="303580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Club Formation</a:t>
            </a:r>
            <a:endParaRPr lang="en-US" sz="1300" dirty="0"/>
          </a:p>
        </p:txBody>
      </p:sp>
      <p:sp>
        <p:nvSpPr>
          <p:cNvPr id="22" name="Text 8"/>
          <p:cNvSpPr/>
          <p:nvPr/>
        </p:nvSpPr>
        <p:spPr>
          <a:xfrm>
            <a:off x="6419088" y="3703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Peer-led innovation culture</a:t>
            </a:r>
            <a:endParaRPr lang="en-US" sz="1100" dirty="0"/>
          </a:p>
        </p:txBody>
      </p:sp>
      <p:pic>
        <p:nvPicPr>
          <p:cNvPr id="23" name="Picture 22" descr="_pptx_img_6_440654129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08008" y="2194560"/>
            <a:ext cx="2761488" cy="1993392"/>
          </a:xfrm>
          <a:prstGeom prst="rect">
            <a:avLst/>
          </a:prstGeom>
        </p:spPr>
      </p:pic>
      <p:pic>
        <p:nvPicPr>
          <p:cNvPr id="24" name="Picture 23" descr="_pptx_img_6_440653126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09176" y="2395728"/>
            <a:ext cx="502920" cy="50292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9372600" y="303580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Campus Ecosystem</a:t>
            </a:r>
            <a:endParaRPr lang="en-US" sz="1300" dirty="0"/>
          </a:p>
        </p:txBody>
      </p:sp>
      <p:sp>
        <p:nvSpPr>
          <p:cNvPr id="26" name="Text 10"/>
          <p:cNvSpPr/>
          <p:nvPr/>
        </p:nvSpPr>
        <p:spPr>
          <a:xfrm>
            <a:off x="9372600" y="3703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lab infrastructure</a:t>
            </a:r>
            <a:endParaRPr lang="en-US" sz="1100" dirty="0"/>
          </a:p>
        </p:txBody>
      </p:sp>
      <p:pic>
        <p:nvPicPr>
          <p:cNvPr id="27" name="Picture 26" descr="_pptx_img_6_440654004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472" y="4343400"/>
            <a:ext cx="2761488" cy="1993392"/>
          </a:xfrm>
          <a:prstGeom prst="rect">
            <a:avLst/>
          </a:prstGeom>
        </p:spPr>
      </p:pic>
      <p:pic>
        <p:nvPicPr>
          <p:cNvPr id="28" name="Picture 27" descr="_pptx_img_6_440653443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8640" y="4544568"/>
            <a:ext cx="502920" cy="502920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512064" y="51846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Engagement Activities</a:t>
            </a:r>
            <a:endParaRPr lang="en-US" sz="1300" dirty="0"/>
          </a:p>
        </p:txBody>
      </p:sp>
      <p:sp>
        <p:nvSpPr>
          <p:cNvPr id="30" name="Text 12"/>
          <p:cNvSpPr/>
          <p:nvPr/>
        </p:nvSpPr>
        <p:spPr>
          <a:xfrm>
            <a:off x="512064" y="58521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quizzes &amp; challenges</a:t>
            </a:r>
            <a:endParaRPr lang="en-US" sz="1100" dirty="0"/>
          </a:p>
        </p:txBody>
      </p:sp>
      <p:pic>
        <p:nvPicPr>
          <p:cNvPr id="31" name="Picture 30" descr="_pptx_img_6_440654009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00984" y="4343400"/>
            <a:ext cx="2761488" cy="1993392"/>
          </a:xfrm>
          <a:prstGeom prst="rect">
            <a:avLst/>
          </a:prstGeom>
        </p:spPr>
      </p:pic>
      <p:pic>
        <p:nvPicPr>
          <p:cNvPr id="32" name="Picture 31" descr="_pptx_img_6_440653985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02152" y="4544568"/>
            <a:ext cx="502920" cy="502920"/>
          </a:xfrm>
          <a:prstGeom prst="rect">
            <a:avLst/>
          </a:prstGeom>
        </p:spPr>
      </p:pic>
      <p:sp>
        <p:nvSpPr>
          <p:cNvPr id="33" name="Text 13"/>
          <p:cNvSpPr/>
          <p:nvPr/>
        </p:nvSpPr>
        <p:spPr>
          <a:xfrm>
            <a:off x="3465576" y="51846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Intra-School Hackathons</a:t>
            </a:r>
            <a:endParaRPr lang="en-US" sz="1300" dirty="0"/>
          </a:p>
        </p:txBody>
      </p:sp>
      <p:sp>
        <p:nvSpPr>
          <p:cNvPr id="34" name="Text 14"/>
          <p:cNvSpPr/>
          <p:nvPr/>
        </p:nvSpPr>
        <p:spPr>
          <a:xfrm>
            <a:off x="3465576" y="58521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campus hackathons/year</a:t>
            </a:r>
            <a:endParaRPr lang="en-US" sz="1100" dirty="0"/>
          </a:p>
        </p:txBody>
      </p:sp>
      <p:pic>
        <p:nvPicPr>
          <p:cNvPr id="35" name="Picture 34" descr="_pptx_img_6_440653136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54496" y="4343400"/>
            <a:ext cx="2761488" cy="1993392"/>
          </a:xfrm>
          <a:prstGeom prst="rect">
            <a:avLst/>
          </a:prstGeom>
        </p:spPr>
      </p:pic>
      <p:pic>
        <p:nvPicPr>
          <p:cNvPr id="36" name="Picture 35" descr="_pptx_img_6_440654024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55664" y="4544568"/>
            <a:ext cx="502920" cy="502920"/>
          </a:xfrm>
          <a:prstGeom prst="rect">
            <a:avLst/>
          </a:prstGeom>
        </p:spPr>
      </p:pic>
      <p:sp>
        <p:nvSpPr>
          <p:cNvPr id="37" name="Text 15"/>
          <p:cNvSpPr/>
          <p:nvPr/>
        </p:nvSpPr>
        <p:spPr>
          <a:xfrm>
            <a:off x="6419088" y="51846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Inter-School Hackathon</a:t>
            </a:r>
            <a:endParaRPr lang="en-US" sz="1300" dirty="0"/>
          </a:p>
        </p:txBody>
      </p:sp>
      <p:sp>
        <p:nvSpPr>
          <p:cNvPr id="38" name="Text 16"/>
          <p:cNvSpPr/>
          <p:nvPr/>
        </p:nvSpPr>
        <p:spPr>
          <a:xfrm>
            <a:off x="6419088" y="58521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multi-institution</a:t>
            </a:r>
            <a:endParaRPr lang="en-US" sz="1100" dirty="0"/>
          </a:p>
        </p:txBody>
      </p:sp>
      <p:pic>
        <p:nvPicPr>
          <p:cNvPr id="39" name="Picture 38" descr="_pptx_img_6_440653539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8008" y="4343400"/>
            <a:ext cx="2761488" cy="1993392"/>
          </a:xfrm>
          <a:prstGeom prst="rect">
            <a:avLst/>
          </a:prstGeom>
        </p:spPr>
      </p:pic>
      <p:pic>
        <p:nvPicPr>
          <p:cNvPr id="40" name="Picture 39" descr="_pptx_img_6_4406542208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09176" y="4544568"/>
            <a:ext cx="502920" cy="502920"/>
          </a:xfrm>
          <a:prstGeom prst="rect">
            <a:avLst/>
          </a:prstGeom>
        </p:spPr>
      </p:pic>
      <p:sp>
        <p:nvSpPr>
          <p:cNvPr id="41" name="Text 17"/>
          <p:cNvSpPr/>
          <p:nvPr/>
        </p:nvSpPr>
        <p:spPr>
          <a:xfrm>
            <a:off x="9372600" y="51846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Theory Classes</a:t>
            </a:r>
            <a:endParaRPr lang="en-US" sz="1300" dirty="0"/>
          </a:p>
        </p:txBody>
      </p:sp>
      <p:sp>
        <p:nvSpPr>
          <p:cNvPr id="42" name="Text 18"/>
          <p:cNvSpPr/>
          <p:nvPr/>
        </p:nvSpPr>
        <p:spPr>
          <a:xfrm>
            <a:off x="9372600" y="58521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CBSE-aligned curriculum</a:t>
            </a:r>
            <a:endParaRPr lang="en-US" sz="1100" dirty="0"/>
          </a:p>
        </p:txBody>
      </p:sp>
      <p:pic>
        <p:nvPicPr>
          <p:cNvPr id="43" name="Picture 42" descr="_pptx_img_5_4406537264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_pptx_img_7_4406759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Picture 2" descr="_pptx_img_5_4406399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4" name="Picture 3" descr="_pptx_img_6_44065374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0" y="2743200"/>
            <a:ext cx="4572000" cy="4572000"/>
          </a:xfrm>
          <a:prstGeom prst="rect">
            <a:avLst/>
          </a:prstGeom>
        </p:spPr>
      </p:pic>
      <p:pic>
        <p:nvPicPr>
          <p:cNvPr id="5" name="Picture 4" descr="_pptx_img_5_44065318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-1371600"/>
            <a:ext cx="5029200" cy="5029200"/>
          </a:xfrm>
          <a:prstGeom prst="rect">
            <a:avLst/>
          </a:prstGeom>
        </p:spPr>
      </p:pic>
      <p:pic>
        <p:nvPicPr>
          <p:cNvPr id="6" name="Picture 5" descr="_pptx_img_7_44067600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274320"/>
            <a:ext cx="1645920" cy="1645920"/>
          </a:xfrm>
          <a:prstGeom prst="rect">
            <a:avLst/>
          </a:prstGeom>
        </p:spPr>
      </p:pic>
      <p:pic>
        <p:nvPicPr>
          <p:cNvPr id="7" name="Picture 6" descr="_pptx_img_5_440653294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Engagement &amp; Exposure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learning bridges academic theory with industrial intelligence</a:t>
            </a:r>
            <a:endParaRPr lang="en-US" sz="1300" dirty="0"/>
          </a:p>
        </p:txBody>
      </p:sp>
      <p:pic>
        <p:nvPicPr>
          <p:cNvPr id="11" name="Picture 10" descr="_pptx_img_5_44065330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</p:spPr>
      </p:pic>
      <p:pic>
        <p:nvPicPr>
          <p:cNvPr id="12" name="Picture 11" descr="_pptx_img_7_44067596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" y="1874520"/>
            <a:ext cx="5596128" cy="4526280"/>
          </a:xfrm>
          <a:prstGeom prst="rect">
            <a:avLst/>
          </a:prstGeom>
        </p:spPr>
      </p:pic>
      <p:pic>
        <p:nvPicPr>
          <p:cNvPr id="13" name="Picture 12" descr="_pptx_img_7_44067601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" y="2057400"/>
            <a:ext cx="1737360" cy="384048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585216" y="2057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MONTHLY</a:t>
            </a:r>
            <a:endParaRPr lang="en-US" sz="1000" dirty="0"/>
          </a:p>
        </p:txBody>
      </p:sp>
      <p:sp>
        <p:nvSpPr>
          <p:cNvPr id="15" name="Text 4"/>
          <p:cNvSpPr/>
          <p:nvPr/>
        </p:nvSpPr>
        <p:spPr>
          <a:xfrm>
            <a:off x="585216" y="254203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Leadership Seminars</a:t>
            </a:r>
            <a:endParaRPr lang="en-US" sz="1800" dirty="0"/>
          </a:p>
        </p:txBody>
      </p:sp>
      <p:pic>
        <p:nvPicPr>
          <p:cNvPr id="16" name="Picture 15" descr="_pptx_img_7_440676059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216" y="3127248"/>
            <a:ext cx="1828800" cy="36576"/>
          </a:xfrm>
          <a:prstGeom prst="rect">
            <a:avLst/>
          </a:prstGeom>
        </p:spPr>
      </p:pic>
      <p:sp>
        <p:nvSpPr>
          <p:cNvPr id="17" name="Shape 5"/>
          <p:cNvSpPr/>
          <p:nvPr/>
        </p:nvSpPr>
        <p:spPr>
          <a:xfrm>
            <a:off x="612648" y="3401568"/>
            <a:ext cx="82296" cy="82296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  <p:txBody>
          <a:bodyPr/>
          <a:p/>
        </p:txBody>
      </p:sp>
      <p:sp>
        <p:nvSpPr>
          <p:cNvPr id="18" name="Text 6"/>
          <p:cNvSpPr/>
          <p:nvPr/>
        </p:nvSpPr>
        <p:spPr>
          <a:xfrm>
            <a:off x="786384" y="3291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Researchers – Leading scientists &amp; academics</a:t>
            </a:r>
            <a:endParaRPr lang="en-US" sz="1200" dirty="0"/>
          </a:p>
        </p:txBody>
      </p:sp>
      <p:sp>
        <p:nvSpPr>
          <p:cNvPr id="19" name="Shape 7"/>
          <p:cNvSpPr/>
          <p:nvPr/>
        </p:nvSpPr>
        <p:spPr>
          <a:xfrm>
            <a:off x="612648" y="3931920"/>
            <a:ext cx="82296" cy="82296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  <p:txBody>
          <a:bodyPr/>
          <a:p/>
        </p:txBody>
      </p:sp>
      <p:sp>
        <p:nvSpPr>
          <p:cNvPr id="20" name="Text 8"/>
          <p:cNvSpPr/>
          <p:nvPr/>
        </p:nvSpPr>
        <p:spPr>
          <a:xfrm>
            <a:off x="786384" y="38221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Leaders – CEOs from top AI companies</a:t>
            </a:r>
            <a:endParaRPr lang="en-US" sz="1200" dirty="0"/>
          </a:p>
        </p:txBody>
      </p:sp>
      <p:sp>
        <p:nvSpPr>
          <p:cNvPr id="21" name="Shape 9"/>
          <p:cNvSpPr/>
          <p:nvPr/>
        </p:nvSpPr>
        <p:spPr>
          <a:xfrm>
            <a:off x="612648" y="4462272"/>
            <a:ext cx="82296" cy="82296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  <p:txBody>
          <a:bodyPr/>
          <a:p/>
        </p:txBody>
      </p:sp>
      <p:sp>
        <p:nvSpPr>
          <p:cNvPr id="22" name="Text 10"/>
          <p:cNvSpPr/>
          <p:nvPr/>
        </p:nvSpPr>
        <p:spPr>
          <a:xfrm>
            <a:off x="786384" y="435254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Founders – Real-world problem solvers</a:t>
            </a:r>
            <a:endParaRPr lang="en-US" sz="1200" dirty="0"/>
          </a:p>
        </p:txBody>
      </p:sp>
      <p:sp>
        <p:nvSpPr>
          <p:cNvPr id="23" name="Shape 11"/>
          <p:cNvSpPr/>
          <p:nvPr/>
        </p:nvSpPr>
        <p:spPr>
          <a:xfrm>
            <a:off x="612648" y="4992624"/>
            <a:ext cx="82296" cy="82296"/>
          </a:xfrm>
          <a:prstGeom prst="ellipse">
            <a:avLst/>
          </a:prstGeom>
          <a:solidFill>
            <a:srgbClr val="4F8EFF"/>
          </a:solidFill>
          <a:ln w="12700">
            <a:solidFill>
              <a:srgbClr val="4F8EFF"/>
            </a:solidFill>
            <a:prstDash val="solid"/>
          </a:ln>
        </p:spPr>
        <p:txBody>
          <a:bodyPr/>
          <a:p/>
        </p:txBody>
      </p:sp>
      <p:sp>
        <p:nvSpPr>
          <p:cNvPr id="24" name="Text 12"/>
          <p:cNvSpPr/>
          <p:nvPr/>
        </p:nvSpPr>
        <p:spPr>
          <a:xfrm>
            <a:off x="786384" y="488289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CEOs &amp; Innovators – Live industrial challenge sessions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585216" y="544068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"Real exposure builds the bridge between academic theory and industrial intelligence."</a:t>
            </a:r>
            <a:endParaRPr lang="en-US" sz="1100" dirty="0"/>
          </a:p>
        </p:txBody>
      </p:sp>
      <p:pic>
        <p:nvPicPr>
          <p:cNvPr id="26" name="Picture 25" descr="_pptx_img_7_440676155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1928" y="1874520"/>
            <a:ext cx="5596128" cy="4526280"/>
          </a:xfrm>
          <a:prstGeom prst="rect">
            <a:avLst/>
          </a:prstGeom>
        </p:spPr>
      </p:pic>
      <p:pic>
        <p:nvPicPr>
          <p:cNvPr id="27" name="Picture 26" descr="_pptx_img_7_440675848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3096" y="2057400"/>
            <a:ext cx="1737360" cy="38404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483096" y="2057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MONTHLY</a:t>
            </a:r>
            <a:endParaRPr lang="en-US" sz="1000" dirty="0"/>
          </a:p>
        </p:txBody>
      </p:sp>
      <p:sp>
        <p:nvSpPr>
          <p:cNvPr id="29" name="Text 15"/>
          <p:cNvSpPr/>
          <p:nvPr/>
        </p:nvSpPr>
        <p:spPr>
          <a:xfrm>
            <a:off x="6483096" y="254203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Exposure Visits</a:t>
            </a:r>
            <a:endParaRPr lang="en-US" sz="1800" dirty="0"/>
          </a:p>
        </p:txBody>
      </p:sp>
      <p:pic>
        <p:nvPicPr>
          <p:cNvPr id="30" name="Picture 29" descr="_pptx_img_7_440675944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3096" y="3127248"/>
            <a:ext cx="1828800" cy="36576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6510528" y="3401568"/>
            <a:ext cx="82296" cy="82296"/>
          </a:xfrm>
          <a:prstGeom prst="ellipse">
            <a:avLst/>
          </a:prstGeom>
          <a:solidFill>
            <a:srgbClr val="B0B0C0"/>
          </a:solidFill>
          <a:ln w="12700">
            <a:solidFill>
              <a:srgbClr val="B0B0C0"/>
            </a:solidFill>
            <a:prstDash val="solid"/>
          </a:ln>
        </p:spPr>
        <p:txBody>
          <a:bodyPr/>
          <a:p/>
        </p:txBody>
      </p:sp>
      <p:sp>
        <p:nvSpPr>
          <p:cNvPr id="32" name="Text 17"/>
          <p:cNvSpPr/>
          <p:nvPr/>
        </p:nvSpPr>
        <p:spPr>
          <a:xfrm>
            <a:off x="6684264" y="3291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AI &amp; Automation – See industrial robots &amp; ML systems</a:t>
            </a:r>
            <a:endParaRPr lang="en-US" sz="1200" dirty="0"/>
          </a:p>
        </p:txBody>
      </p:sp>
      <p:sp>
        <p:nvSpPr>
          <p:cNvPr id="33" name="Shape 18"/>
          <p:cNvSpPr/>
          <p:nvPr/>
        </p:nvSpPr>
        <p:spPr>
          <a:xfrm>
            <a:off x="6510528" y="3931920"/>
            <a:ext cx="82296" cy="82296"/>
          </a:xfrm>
          <a:prstGeom prst="ellipse">
            <a:avLst/>
          </a:prstGeom>
          <a:solidFill>
            <a:srgbClr val="B0B0C0"/>
          </a:solidFill>
          <a:ln w="12700">
            <a:solidFill>
              <a:srgbClr val="B0B0C0"/>
            </a:solidFill>
            <a:prstDash val="solid"/>
          </a:ln>
        </p:spPr>
        <p:txBody>
          <a:bodyPr/>
          <a:p/>
        </p:txBody>
      </p:sp>
      <p:sp>
        <p:nvSpPr>
          <p:cNvPr id="34" name="Text 19"/>
          <p:cNvSpPr/>
          <p:nvPr/>
        </p:nvSpPr>
        <p:spPr>
          <a:xfrm>
            <a:off x="6684264" y="38221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Manufacturing – Understand AI-driven production lines</a:t>
            </a:r>
            <a:endParaRPr lang="en-US" sz="1200" dirty="0"/>
          </a:p>
        </p:txBody>
      </p:sp>
      <p:sp>
        <p:nvSpPr>
          <p:cNvPr id="35" name="Shape 20"/>
          <p:cNvSpPr/>
          <p:nvPr/>
        </p:nvSpPr>
        <p:spPr>
          <a:xfrm>
            <a:off x="6510528" y="4462272"/>
            <a:ext cx="82296" cy="82296"/>
          </a:xfrm>
          <a:prstGeom prst="ellipse">
            <a:avLst/>
          </a:prstGeom>
          <a:solidFill>
            <a:srgbClr val="B0B0C0"/>
          </a:solidFill>
          <a:ln w="12700">
            <a:solidFill>
              <a:srgbClr val="B0B0C0"/>
            </a:solidFill>
            <a:prstDash val="solid"/>
          </a:ln>
        </p:spPr>
        <p:txBody>
          <a:bodyPr/>
          <a:p/>
        </p:txBody>
      </p:sp>
      <p:sp>
        <p:nvSpPr>
          <p:cNvPr id="36" name="Text 21"/>
          <p:cNvSpPr/>
          <p:nvPr/>
        </p:nvSpPr>
        <p:spPr>
          <a:xfrm>
            <a:off x="6684264" y="435254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Technical Professionals – Interact with engineers &amp; architects</a:t>
            </a:r>
            <a:endParaRPr lang="en-US" sz="1200" dirty="0"/>
          </a:p>
        </p:txBody>
      </p:sp>
      <p:sp>
        <p:nvSpPr>
          <p:cNvPr id="37" name="Shape 22"/>
          <p:cNvSpPr/>
          <p:nvPr/>
        </p:nvSpPr>
        <p:spPr>
          <a:xfrm>
            <a:off x="6510528" y="4992624"/>
            <a:ext cx="82296" cy="82296"/>
          </a:xfrm>
          <a:prstGeom prst="ellipse">
            <a:avLst/>
          </a:prstGeom>
          <a:solidFill>
            <a:srgbClr val="B0B0C0"/>
          </a:solidFill>
          <a:ln w="12700">
            <a:solidFill>
              <a:srgbClr val="B0B0C0"/>
            </a:solidFill>
            <a:prstDash val="solid"/>
          </a:ln>
        </p:spPr>
        <p:txBody>
          <a:bodyPr/>
          <a:p/>
        </p:txBody>
      </p:sp>
      <p:sp>
        <p:nvSpPr>
          <p:cNvPr id="38" name="Text 23"/>
          <p:cNvSpPr/>
          <p:nvPr/>
        </p:nvSpPr>
        <p:spPr>
          <a:xfrm>
            <a:off x="6684264" y="488289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Meets Practice – Connect classroom learning to real plants</a:t>
            </a:r>
            <a:endParaRPr lang="en-US" sz="1200" dirty="0"/>
          </a:p>
        </p:txBody>
      </p:sp>
      <p:sp>
        <p:nvSpPr>
          <p:cNvPr id="39" name="Text 24"/>
          <p:cNvSpPr/>
          <p:nvPr/>
        </p:nvSpPr>
        <p:spPr>
          <a:xfrm>
            <a:off x="6483096" y="544068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"Exposes students to real industrial challenges &amp; practical AI applications in action."</a:t>
            </a:r>
            <a:endParaRPr lang="en-US" sz="1100" dirty="0"/>
          </a:p>
        </p:txBody>
      </p:sp>
      <p:pic>
        <p:nvPicPr>
          <p:cNvPr id="40" name="Picture 39" descr="_pptx_img_7_440676073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048" y="6446839"/>
            <a:ext cx="4572000" cy="731520"/>
          </a:xfrm>
          <a:prstGeom prst="rect">
            <a:avLst/>
          </a:prstGeom>
        </p:spPr>
      </p:pic>
      <p:pic>
        <p:nvPicPr>
          <p:cNvPr id="41" name="Picture 40" descr="_pptx_img_7_440653136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75120" y="6277356"/>
            <a:ext cx="5943600" cy="731520"/>
          </a:xfrm>
          <a:prstGeom prst="rect">
            <a:avLst/>
          </a:prstGeom>
        </p:spPr>
      </p:pic>
      <p:pic>
        <p:nvPicPr>
          <p:cNvPr id="42" name="Picture 41" descr="_pptx_img_5_440653726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_pptx_img_5_4402689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Picture 2" descr="_pptx_img_5_4406399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4" name="Picture 3" descr="_pptx_img_5_44065318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-1828800"/>
            <a:ext cx="5029200" cy="5029200"/>
          </a:xfrm>
          <a:prstGeom prst="rect">
            <a:avLst/>
          </a:prstGeom>
        </p:spPr>
      </p:pic>
      <p:pic>
        <p:nvPicPr>
          <p:cNvPr id="5" name="Picture 4" descr="_pptx_img_5_44062888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3200400"/>
            <a:ext cx="3657600" cy="3657600"/>
          </a:xfrm>
          <a:prstGeom prst="rect">
            <a:avLst/>
          </a:prstGeom>
        </p:spPr>
      </p:pic>
      <p:pic>
        <p:nvPicPr>
          <p:cNvPr id="6" name="Picture 5" descr="_pptx_img_5_44062916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4572000"/>
            <a:ext cx="2286000" cy="2286000"/>
          </a:xfrm>
          <a:prstGeom prst="rect">
            <a:avLst/>
          </a:prstGeom>
        </p:spPr>
      </p:pic>
      <p:pic>
        <p:nvPicPr>
          <p:cNvPr id="7" name="Picture 6" descr="_pptx_img_8_440654019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9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Club &amp; Campus Transformation</a:t>
            </a:r>
            <a:endParaRPr lang="en-US" sz="3600" dirty="0"/>
          </a:p>
        </p:txBody>
      </p:sp>
      <p:sp>
        <p:nvSpPr>
          <p:cNvPr id="10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classroom to an entire AI-immersive campus environment</a:t>
            </a:r>
            <a:endParaRPr lang="en-US" sz="1300" dirty="0"/>
          </a:p>
        </p:txBody>
      </p:sp>
      <p:pic>
        <p:nvPicPr>
          <p:cNvPr id="11" name="Picture 10" descr="_pptx_img_8_44065360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</p:spPr>
      </p:pic>
      <p:pic>
        <p:nvPicPr>
          <p:cNvPr id="12" name="Picture 11" descr="_pptx_img_8_44067646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" y="1920240"/>
            <a:ext cx="5596128" cy="4462272"/>
          </a:xfrm>
          <a:prstGeom prst="rect">
            <a:avLst/>
          </a:prstGeom>
        </p:spPr>
      </p:pic>
      <p:pic>
        <p:nvPicPr>
          <p:cNvPr id="13" name="Picture 12" descr="_pptx_img_8_440676188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" y="2084832"/>
            <a:ext cx="548640" cy="548640"/>
          </a:xfrm>
          <a:prstGeom prst="rect">
            <a:avLst/>
          </a:prstGeom>
        </p:spPr>
      </p:pic>
      <p:pic>
        <p:nvPicPr>
          <p:cNvPr id="14" name="Picture 13" descr="_pptx_img_8_440676236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0160" y="2130552"/>
            <a:ext cx="1828800" cy="384048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1280160" y="21305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16" name="Text 4"/>
          <p:cNvSpPr/>
          <p:nvPr/>
        </p:nvSpPr>
        <p:spPr>
          <a:xfrm>
            <a:off x="585216" y="2724912"/>
            <a:ext cx="5166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Club Formation</a:t>
            </a:r>
            <a:endParaRPr lang="en-US" sz="1800" dirty="0"/>
          </a:p>
        </p:txBody>
      </p:sp>
      <p:pic>
        <p:nvPicPr>
          <p:cNvPr id="17" name="Picture 16" descr="_pptx_img_8_440676246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216" y="3337560"/>
            <a:ext cx="1828800" cy="36576"/>
          </a:xfrm>
          <a:prstGeom prst="rect">
            <a:avLst/>
          </a:prstGeom>
        </p:spPr>
      </p:pic>
      <p:sp>
        <p:nvSpPr>
          <p:cNvPr id="18" name="Shape 5"/>
          <p:cNvSpPr/>
          <p:nvPr/>
        </p:nvSpPr>
        <p:spPr>
          <a:xfrm>
            <a:off x="612648" y="3630168"/>
            <a:ext cx="82296" cy="82296"/>
          </a:xfrm>
          <a:prstGeom prst="ellipse">
            <a:avLst/>
          </a:prstGeom>
          <a:solidFill>
            <a:srgbClr val="B0B0C0"/>
          </a:solidFill>
          <a:ln w="12700">
            <a:solidFill>
              <a:srgbClr val="B0B0C0"/>
            </a:solidFill>
            <a:prstDash val="solid"/>
          </a:ln>
        </p:spPr>
        <p:txBody>
          <a:bodyPr/>
          <a:p/>
        </p:txBody>
      </p:sp>
      <p:sp>
        <p:nvSpPr>
          <p:cNvPr id="19" name="Text 6"/>
          <p:cNvSpPr/>
          <p:nvPr/>
        </p:nvSpPr>
        <p:spPr>
          <a:xfrm>
            <a:off x="786384" y="35204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Peer-Led Innovation – students run AI projects independently</a:t>
            </a:r>
            <a:endParaRPr lang="en-US" sz="1200" dirty="0"/>
          </a:p>
        </p:txBody>
      </p:sp>
      <p:sp>
        <p:nvSpPr>
          <p:cNvPr id="20" name="Shape 7"/>
          <p:cNvSpPr/>
          <p:nvPr/>
        </p:nvSpPr>
        <p:spPr>
          <a:xfrm>
            <a:off x="612648" y="4160520"/>
            <a:ext cx="82296" cy="82296"/>
          </a:xfrm>
          <a:prstGeom prst="ellipse">
            <a:avLst/>
          </a:prstGeom>
          <a:solidFill>
            <a:srgbClr val="B0B0C0"/>
          </a:solidFill>
          <a:ln w="12700">
            <a:solidFill>
              <a:srgbClr val="B0B0C0"/>
            </a:solidFill>
            <a:prstDash val="solid"/>
          </a:ln>
        </p:spPr>
        <p:txBody>
          <a:bodyPr/>
          <a:p/>
        </p:txBody>
      </p:sp>
      <p:sp>
        <p:nvSpPr>
          <p:cNvPr id="21" name="Text 8"/>
          <p:cNvSpPr/>
          <p:nvPr/>
        </p:nvSpPr>
        <p:spPr>
          <a:xfrm>
            <a:off x="786384" y="40507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Collaboration – cross-grade design sprints</a:t>
            </a:r>
            <a:endParaRPr lang="en-US" sz="1200" dirty="0"/>
          </a:p>
        </p:txBody>
      </p:sp>
      <p:sp>
        <p:nvSpPr>
          <p:cNvPr id="22" name="Shape 9"/>
          <p:cNvSpPr/>
          <p:nvPr/>
        </p:nvSpPr>
        <p:spPr>
          <a:xfrm>
            <a:off x="612648" y="4690872"/>
            <a:ext cx="82296" cy="82296"/>
          </a:xfrm>
          <a:prstGeom prst="ellipse">
            <a:avLst/>
          </a:prstGeom>
          <a:solidFill>
            <a:srgbClr val="B0B0C0"/>
          </a:solidFill>
          <a:ln w="12700">
            <a:solidFill>
              <a:srgbClr val="B0B0C0"/>
            </a:solidFill>
            <a:prstDash val="solid"/>
          </a:ln>
        </p:spPr>
        <p:txBody>
          <a:bodyPr/>
          <a:p/>
        </p:txBody>
      </p:sp>
      <p:sp>
        <p:nvSpPr>
          <p:cNvPr id="23" name="Text 10"/>
          <p:cNvSpPr/>
          <p:nvPr/>
        </p:nvSpPr>
        <p:spPr>
          <a:xfrm>
            <a:off x="786384" y="458114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Leadership – AI captains, club presidents &amp; showcases</a:t>
            </a:r>
            <a:endParaRPr lang="en-US" sz="1200" dirty="0"/>
          </a:p>
        </p:txBody>
      </p:sp>
      <p:sp>
        <p:nvSpPr>
          <p:cNvPr id="24" name="Shape 11"/>
          <p:cNvSpPr/>
          <p:nvPr/>
        </p:nvSpPr>
        <p:spPr>
          <a:xfrm>
            <a:off x="612648" y="5221224"/>
            <a:ext cx="82296" cy="82296"/>
          </a:xfrm>
          <a:prstGeom prst="ellipse">
            <a:avLst/>
          </a:prstGeom>
          <a:solidFill>
            <a:srgbClr val="B0B0C0"/>
          </a:solidFill>
          <a:ln w="12700">
            <a:solidFill>
              <a:srgbClr val="B0B0C0"/>
            </a:solidFill>
            <a:prstDash val="solid"/>
          </a:ln>
        </p:spPr>
        <p:txBody>
          <a:bodyPr/>
          <a:p/>
        </p:txBody>
      </p:sp>
      <p:sp>
        <p:nvSpPr>
          <p:cNvPr id="25" name="Text 12"/>
          <p:cNvSpPr/>
          <p:nvPr/>
        </p:nvSpPr>
        <p:spPr>
          <a:xfrm>
            <a:off x="786384" y="511149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Events – demo days, talks &amp; parent exhibitions</a:t>
            </a:r>
            <a:endParaRPr lang="en-US" sz="1200" dirty="0"/>
          </a:p>
        </p:txBody>
      </p:sp>
      <p:sp>
        <p:nvSpPr>
          <p:cNvPr id="26" name="Text 13"/>
          <p:cNvSpPr/>
          <p:nvPr/>
        </p:nvSpPr>
        <p:spPr>
          <a:xfrm>
            <a:off x="585216" y="5559552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AI Club becomes the heartbeat of innovation culture within the institution."</a:t>
            </a:r>
            <a:endParaRPr lang="en-US" sz="1100" dirty="0"/>
          </a:p>
        </p:txBody>
      </p:sp>
      <p:pic>
        <p:nvPicPr>
          <p:cNvPr id="27" name="Picture 26" descr="_pptx_img_8_440676265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1928" y="1920240"/>
            <a:ext cx="5596128" cy="4462272"/>
          </a:xfrm>
          <a:prstGeom prst="rect">
            <a:avLst/>
          </a:prstGeom>
        </p:spPr>
      </p:pic>
      <p:pic>
        <p:nvPicPr>
          <p:cNvPr id="28" name="Picture 27" descr="_pptx_img_8_440675953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3096" y="2084832"/>
            <a:ext cx="548640" cy="548640"/>
          </a:xfrm>
          <a:prstGeom prst="rect">
            <a:avLst/>
          </a:prstGeom>
        </p:spPr>
      </p:pic>
      <p:pic>
        <p:nvPicPr>
          <p:cNvPr id="29" name="Picture 28" descr="_pptx_img_8_440676524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78040" y="2130552"/>
            <a:ext cx="1828800" cy="384048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7178040" y="21305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CAMPUS-WIDE</a:t>
            </a:r>
            <a:endParaRPr lang="en-US" sz="1000" dirty="0"/>
          </a:p>
        </p:txBody>
      </p:sp>
      <p:sp>
        <p:nvSpPr>
          <p:cNvPr id="31" name="Text 15"/>
          <p:cNvSpPr/>
          <p:nvPr/>
        </p:nvSpPr>
        <p:spPr>
          <a:xfrm>
            <a:off x="6483096" y="2724912"/>
            <a:ext cx="5166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Campus Ecosystem</a:t>
            </a:r>
            <a:endParaRPr lang="en-US" sz="1800" dirty="0"/>
          </a:p>
        </p:txBody>
      </p:sp>
      <p:pic>
        <p:nvPicPr>
          <p:cNvPr id="32" name="Picture 31" descr="_pptx_img_8_440676078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3096" y="3337560"/>
            <a:ext cx="1828800" cy="36576"/>
          </a:xfrm>
          <a:prstGeom prst="rect">
            <a:avLst/>
          </a:prstGeom>
        </p:spPr>
      </p:pic>
      <p:sp>
        <p:nvSpPr>
          <p:cNvPr id="33" name="Shape 16"/>
          <p:cNvSpPr/>
          <p:nvPr/>
        </p:nvSpPr>
        <p:spPr>
          <a:xfrm>
            <a:off x="6510528" y="3630168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4" name="Text 17"/>
          <p:cNvSpPr/>
          <p:nvPr/>
        </p:nvSpPr>
        <p:spPr>
          <a:xfrm>
            <a:off x="6684264" y="35204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Awareness Displays – screens showing live AI data &amp; insights</a:t>
            </a:r>
            <a:endParaRPr lang="en-US" sz="1200" dirty="0"/>
          </a:p>
        </p:txBody>
      </p:sp>
      <p:sp>
        <p:nvSpPr>
          <p:cNvPr id="35" name="Shape 18"/>
          <p:cNvSpPr/>
          <p:nvPr/>
        </p:nvSpPr>
        <p:spPr>
          <a:xfrm>
            <a:off x="6510528" y="4160520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6" name="Text 19"/>
          <p:cNvSpPr/>
          <p:nvPr/>
        </p:nvSpPr>
        <p:spPr>
          <a:xfrm>
            <a:off x="6684264" y="40507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Lab Infrastructure – GPU workstations, AR/VR &amp; cloud tools</a:t>
            </a:r>
            <a:endParaRPr lang="en-US" sz="1200" dirty="0"/>
          </a:p>
        </p:txBody>
      </p:sp>
      <p:sp>
        <p:nvSpPr>
          <p:cNvPr id="37" name="Shape 20"/>
          <p:cNvSpPr/>
          <p:nvPr/>
        </p:nvSpPr>
        <p:spPr>
          <a:xfrm>
            <a:off x="6510528" y="4690872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8" name="Text 21"/>
          <p:cNvSpPr/>
          <p:nvPr/>
        </p:nvSpPr>
        <p:spPr>
          <a:xfrm>
            <a:off x="6684264" y="458114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Boards – digital dashboards of student AI projects</a:t>
            </a:r>
            <a:endParaRPr lang="en-US" sz="1200" dirty="0"/>
          </a:p>
        </p:txBody>
      </p:sp>
      <p:sp>
        <p:nvSpPr>
          <p:cNvPr id="39" name="Shape 22"/>
          <p:cNvSpPr/>
          <p:nvPr/>
        </p:nvSpPr>
        <p:spPr>
          <a:xfrm>
            <a:off x="6510528" y="5221224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40" name="Text 23"/>
          <p:cNvSpPr/>
          <p:nvPr/>
        </p:nvSpPr>
        <p:spPr>
          <a:xfrm>
            <a:off x="6684264" y="511149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Culture – tech-integrated learning across all subjects</a:t>
            </a:r>
            <a:endParaRPr lang="en-US" sz="1200" dirty="0"/>
          </a:p>
        </p:txBody>
      </p:sp>
      <p:sp>
        <p:nvSpPr>
          <p:cNvPr id="41" name="Text 24"/>
          <p:cNvSpPr/>
          <p:nvPr/>
        </p:nvSpPr>
        <p:spPr>
          <a:xfrm>
            <a:off x="6483096" y="5559552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whole campus becomes an AI-immersive environment — not just one classroom."</a:t>
            </a:r>
            <a:endParaRPr lang="en-US" sz="1100" dirty="0"/>
          </a:p>
        </p:txBody>
      </p:sp>
      <p:pic>
        <p:nvPicPr>
          <p:cNvPr id="42" name="Picture 41" descr="_pptx_img_5_440653726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" name="Rectangle 5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_pptx_img_6_44063997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Picture 2" descr="_pptx_img_5_4406399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4" name="Picture 3" descr="_pptx_img_6_44065389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1600" y="-1371600"/>
            <a:ext cx="5943600" cy="5943600"/>
          </a:xfrm>
          <a:prstGeom prst="rect">
            <a:avLst/>
          </a:prstGeom>
        </p:spPr>
      </p:pic>
      <p:pic>
        <p:nvPicPr>
          <p:cNvPr id="5" name="Picture 4" descr="_pptx_img_6_44065374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286000"/>
            <a:ext cx="5029200" cy="5029200"/>
          </a:xfrm>
          <a:prstGeom prst="rect">
            <a:avLst/>
          </a:prstGeom>
        </p:spPr>
      </p:pic>
      <p:pic>
        <p:nvPicPr>
          <p:cNvPr id="6" name="Picture 5" descr="_pptx_img_9_440676179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92608"/>
            <a:ext cx="914400" cy="3474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4360" y="292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8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Labs &amp; Academic Rigor</a:t>
            </a:r>
            <a:endParaRPr lang="en-US" sz="3600" dirty="0"/>
          </a:p>
        </p:txBody>
      </p:sp>
      <p:sp>
        <p:nvSpPr>
          <p:cNvPr id="9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competitive hackathons to CBSE-aligned theory — a complete learning loop</a:t>
            </a:r>
            <a:endParaRPr lang="en-US" sz="1300" dirty="0"/>
          </a:p>
        </p:txBody>
      </p:sp>
      <p:pic>
        <p:nvPicPr>
          <p:cNvPr id="10" name="Picture 9" descr="_pptx_img_9_44067590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</p:spPr>
      </p:pic>
      <p:pic>
        <p:nvPicPr>
          <p:cNvPr id="11" name="Picture 10" descr="_pptx_img_9_44067672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" y="1920240"/>
            <a:ext cx="3657600" cy="4572000"/>
          </a:xfrm>
          <a:prstGeom prst="rect">
            <a:avLst/>
          </a:prstGeom>
        </p:spPr>
      </p:pic>
      <p:pic>
        <p:nvPicPr>
          <p:cNvPr id="12" name="Picture 11" descr="_pptx_img_9_44067672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084832"/>
            <a:ext cx="594360" cy="594360"/>
          </a:xfrm>
          <a:prstGeom prst="rect">
            <a:avLst/>
          </a:prstGeom>
        </p:spPr>
      </p:pic>
      <p:pic>
        <p:nvPicPr>
          <p:cNvPr id="13" name="Picture 12" descr="_pptx_img_9_440676587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7592" y="2148840"/>
            <a:ext cx="2286000" cy="384048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307592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15" name="Text 4"/>
          <p:cNvSpPr/>
          <p:nvPr/>
        </p:nvSpPr>
        <p:spPr>
          <a:xfrm>
            <a:off x="548640" y="27432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Engagement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600" dirty="0"/>
          </a:p>
        </p:txBody>
      </p:sp>
      <p:pic>
        <p:nvPicPr>
          <p:cNvPr id="16" name="Picture 15" descr="_pptx_img_9_440676760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3493008"/>
            <a:ext cx="1645920" cy="36576"/>
          </a:xfrm>
          <a:prstGeom prst="rect">
            <a:avLst/>
          </a:prstGeom>
        </p:spPr>
      </p:pic>
      <p:sp>
        <p:nvSpPr>
          <p:cNvPr id="17" name="Shape 5"/>
          <p:cNvSpPr/>
          <p:nvPr/>
        </p:nvSpPr>
        <p:spPr>
          <a:xfrm>
            <a:off x="576072" y="3785616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18" name="Text 6"/>
          <p:cNvSpPr/>
          <p:nvPr/>
        </p:nvSpPr>
        <p:spPr>
          <a:xfrm>
            <a:off x="749808" y="36758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Quizzes – weekly assessments</a:t>
            </a:r>
            <a:endParaRPr lang="en-US" sz="1100" dirty="0"/>
          </a:p>
        </p:txBody>
      </p:sp>
      <p:sp>
        <p:nvSpPr>
          <p:cNvPr id="19" name="Shape 7"/>
          <p:cNvSpPr/>
          <p:nvPr/>
        </p:nvSpPr>
        <p:spPr>
          <a:xfrm>
            <a:off x="576072" y="4352544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0" name="Text 8"/>
          <p:cNvSpPr/>
          <p:nvPr/>
        </p:nvSpPr>
        <p:spPr>
          <a:xfrm>
            <a:off x="749808" y="42428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Challenges – analytical problem-solving</a:t>
            </a:r>
            <a:endParaRPr lang="en-US" sz="1100" dirty="0"/>
          </a:p>
        </p:txBody>
      </p:sp>
      <p:sp>
        <p:nvSpPr>
          <p:cNvPr id="21" name="Shape 9"/>
          <p:cNvSpPr/>
          <p:nvPr/>
        </p:nvSpPr>
        <p:spPr>
          <a:xfrm>
            <a:off x="576072" y="4919472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2" name="Text 10"/>
          <p:cNvSpPr/>
          <p:nvPr/>
        </p:nvSpPr>
        <p:spPr>
          <a:xfrm>
            <a:off x="749808" y="480974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Comprehension Games – gamified learning</a:t>
            </a:r>
            <a:endParaRPr lang="en-US" sz="1100" dirty="0"/>
          </a:p>
        </p:txBody>
      </p:sp>
      <p:sp>
        <p:nvSpPr>
          <p:cNvPr id="23" name="Shape 11"/>
          <p:cNvSpPr/>
          <p:nvPr/>
        </p:nvSpPr>
        <p:spPr>
          <a:xfrm>
            <a:off x="576072" y="5486400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24" name="Text 12"/>
          <p:cNvSpPr/>
          <p:nvPr/>
        </p:nvSpPr>
        <p:spPr>
          <a:xfrm>
            <a:off x="749808" y="537667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Competitions – AI problem-solving contests</a:t>
            </a:r>
            <a:endParaRPr lang="en-US" sz="1100" dirty="0"/>
          </a:p>
        </p:txBody>
      </p:sp>
      <p:pic>
        <p:nvPicPr>
          <p:cNvPr id="25" name="Picture 24" descr="_pptx_img_9_44067671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9392" y="1920240"/>
            <a:ext cx="3657600" cy="4572000"/>
          </a:xfrm>
          <a:prstGeom prst="rect">
            <a:avLst/>
          </a:prstGeom>
        </p:spPr>
      </p:pic>
      <p:pic>
        <p:nvPicPr>
          <p:cNvPr id="26" name="Picture 25" descr="_pptx_img_9_440676745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0560" y="2084832"/>
            <a:ext cx="594360" cy="594360"/>
          </a:xfrm>
          <a:prstGeom prst="rect">
            <a:avLst/>
          </a:prstGeom>
        </p:spPr>
      </p:pic>
      <p:pic>
        <p:nvPicPr>
          <p:cNvPr id="27" name="Picture 26" descr="_pptx_img_9_440676932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9512" y="2148840"/>
            <a:ext cx="2286000" cy="384048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5239512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× 2</a:t>
            </a:r>
            <a:endParaRPr lang="en-US" sz="900" dirty="0"/>
          </a:p>
        </p:txBody>
      </p:sp>
      <p:sp>
        <p:nvSpPr>
          <p:cNvPr id="29" name="Text 14"/>
          <p:cNvSpPr/>
          <p:nvPr/>
        </p:nvSpPr>
        <p:spPr>
          <a:xfrm>
            <a:off x="4480560" y="27432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Intra-School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</a:t>
            </a:r>
            <a:endParaRPr lang="en-US" sz="1600" dirty="0"/>
          </a:p>
        </p:txBody>
      </p:sp>
      <p:pic>
        <p:nvPicPr>
          <p:cNvPr id="30" name="Picture 29" descr="_pptx_img_9_440676836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0560" y="3493008"/>
            <a:ext cx="1645920" cy="36576"/>
          </a:xfrm>
          <a:prstGeom prst="rect">
            <a:avLst/>
          </a:prstGeom>
        </p:spPr>
      </p:pic>
      <p:sp>
        <p:nvSpPr>
          <p:cNvPr id="31" name="Shape 15"/>
          <p:cNvSpPr/>
          <p:nvPr/>
        </p:nvSpPr>
        <p:spPr>
          <a:xfrm>
            <a:off x="4507992" y="3785616"/>
            <a:ext cx="82296" cy="82296"/>
          </a:xfrm>
          <a:prstGeom prst="ellipse">
            <a:avLst/>
          </a:prstGeom>
          <a:solidFill>
            <a:srgbClr val="F0F0F5"/>
          </a:solidFill>
          <a:ln w="12700">
            <a:solidFill>
              <a:srgbClr val="F0F0F5"/>
            </a:solidFill>
            <a:prstDash val="solid"/>
          </a:ln>
        </p:spPr>
        <p:txBody>
          <a:bodyPr/>
          <a:p/>
        </p:txBody>
      </p:sp>
      <p:sp>
        <p:nvSpPr>
          <p:cNvPr id="32" name="Text 16"/>
          <p:cNvSpPr/>
          <p:nvPr/>
        </p:nvSpPr>
        <p:spPr>
          <a:xfrm>
            <a:off x="4681728" y="36758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 Problems – live industrial challenges</a:t>
            </a:r>
            <a:endParaRPr lang="en-US" sz="1100" dirty="0"/>
          </a:p>
        </p:txBody>
      </p:sp>
      <p:sp>
        <p:nvSpPr>
          <p:cNvPr id="33" name="Shape 17"/>
          <p:cNvSpPr/>
          <p:nvPr/>
        </p:nvSpPr>
        <p:spPr>
          <a:xfrm>
            <a:off x="4507992" y="4352544"/>
            <a:ext cx="82296" cy="82296"/>
          </a:xfrm>
          <a:prstGeom prst="ellipse">
            <a:avLst/>
          </a:prstGeom>
          <a:solidFill>
            <a:srgbClr val="F0F0F5"/>
          </a:solidFill>
          <a:ln w="12700">
            <a:solidFill>
              <a:srgbClr val="F0F0F5"/>
            </a:solidFill>
            <a:prstDash val="solid"/>
          </a:ln>
        </p:spPr>
        <p:txBody>
          <a:bodyPr/>
          <a:p/>
        </p:txBody>
      </p:sp>
      <p:sp>
        <p:nvSpPr>
          <p:cNvPr id="34" name="Text 18"/>
          <p:cNvSpPr/>
          <p:nvPr/>
        </p:nvSpPr>
        <p:spPr>
          <a:xfrm>
            <a:off x="4681728" y="42428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24-48 hr Sprint – ideate, prototype, present</a:t>
            </a:r>
            <a:endParaRPr lang="en-US" sz="1100" dirty="0"/>
          </a:p>
        </p:txBody>
      </p:sp>
      <p:sp>
        <p:nvSpPr>
          <p:cNvPr id="35" name="Shape 19"/>
          <p:cNvSpPr/>
          <p:nvPr/>
        </p:nvSpPr>
        <p:spPr>
          <a:xfrm>
            <a:off x="4507992" y="4919472"/>
            <a:ext cx="82296" cy="82296"/>
          </a:xfrm>
          <a:prstGeom prst="ellipse">
            <a:avLst/>
          </a:prstGeom>
          <a:solidFill>
            <a:srgbClr val="F0F0F5"/>
          </a:solidFill>
          <a:ln w="12700">
            <a:solidFill>
              <a:srgbClr val="F0F0F5"/>
            </a:solidFill>
            <a:prstDash val="solid"/>
          </a:ln>
        </p:spPr>
        <p:txBody>
          <a:bodyPr/>
          <a:p/>
        </p:txBody>
      </p:sp>
      <p:sp>
        <p:nvSpPr>
          <p:cNvPr id="36" name="Text 20"/>
          <p:cNvSpPr/>
          <p:nvPr/>
        </p:nvSpPr>
        <p:spPr>
          <a:xfrm>
            <a:off x="4681728" y="480974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Cross-Grade Teams – system design thinking</a:t>
            </a:r>
            <a:endParaRPr lang="en-US" sz="1100" dirty="0"/>
          </a:p>
        </p:txBody>
      </p:sp>
      <p:sp>
        <p:nvSpPr>
          <p:cNvPr id="37" name="Shape 21"/>
          <p:cNvSpPr/>
          <p:nvPr/>
        </p:nvSpPr>
        <p:spPr>
          <a:xfrm>
            <a:off x="4507992" y="5486400"/>
            <a:ext cx="82296" cy="82296"/>
          </a:xfrm>
          <a:prstGeom prst="ellipse">
            <a:avLst/>
          </a:prstGeom>
          <a:solidFill>
            <a:srgbClr val="F0F0F5"/>
          </a:solidFill>
          <a:ln w="12700">
            <a:solidFill>
              <a:srgbClr val="F0F0F5"/>
            </a:solidFill>
            <a:prstDash val="solid"/>
          </a:ln>
        </p:spPr>
        <p:txBody>
          <a:bodyPr/>
          <a:p/>
        </p:txBody>
      </p:sp>
      <p:sp>
        <p:nvSpPr>
          <p:cNvPr id="38" name="Text 22"/>
          <p:cNvSpPr/>
          <p:nvPr/>
        </p:nvSpPr>
        <p:spPr>
          <a:xfrm>
            <a:off x="4681728" y="537667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Panel Judging – AI professionals</a:t>
            </a:r>
            <a:endParaRPr lang="en-US" sz="1100" dirty="0"/>
          </a:p>
        </p:txBody>
      </p:sp>
      <p:pic>
        <p:nvPicPr>
          <p:cNvPr id="39" name="Picture 38" descr="_pptx_img_9_440676904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1312" y="1920240"/>
            <a:ext cx="3657600" cy="4572000"/>
          </a:xfrm>
          <a:prstGeom prst="rect">
            <a:avLst/>
          </a:prstGeom>
        </p:spPr>
      </p:pic>
      <p:pic>
        <p:nvPicPr>
          <p:cNvPr id="40" name="Picture 39" descr="_pptx_img_9_440677024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2480" y="2084832"/>
            <a:ext cx="594360" cy="594360"/>
          </a:xfrm>
          <a:prstGeom prst="rect">
            <a:avLst/>
          </a:prstGeom>
        </p:spPr>
      </p:pic>
      <p:pic>
        <p:nvPicPr>
          <p:cNvPr id="41" name="Picture 40" descr="_pptx_img_9_440676860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71432" y="2148840"/>
            <a:ext cx="2286000" cy="384048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9171432" y="2148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+ WEEKLY</a:t>
            </a:r>
            <a:endParaRPr lang="en-US" sz="900" dirty="0"/>
          </a:p>
        </p:txBody>
      </p:sp>
      <p:sp>
        <p:nvSpPr>
          <p:cNvPr id="43" name="Text 24"/>
          <p:cNvSpPr/>
          <p:nvPr/>
        </p:nvSpPr>
        <p:spPr>
          <a:xfrm>
            <a:off x="8412480" y="27432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Inter-School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&amp; Theory</a:t>
            </a:r>
            <a:endParaRPr lang="en-US" sz="1600" dirty="0"/>
          </a:p>
        </p:txBody>
      </p:sp>
      <p:pic>
        <p:nvPicPr>
          <p:cNvPr id="44" name="Picture 43" descr="_pptx_img_9_440677153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12480" y="3493008"/>
            <a:ext cx="1645920" cy="36576"/>
          </a:xfrm>
          <a:prstGeom prst="rect">
            <a:avLst/>
          </a:prstGeom>
        </p:spPr>
      </p:pic>
      <p:sp>
        <p:nvSpPr>
          <p:cNvPr id="45" name="Shape 25"/>
          <p:cNvSpPr/>
          <p:nvPr/>
        </p:nvSpPr>
        <p:spPr>
          <a:xfrm>
            <a:off x="8439912" y="3785616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46" name="Text 26"/>
          <p:cNvSpPr/>
          <p:nvPr/>
        </p:nvSpPr>
        <p:spPr>
          <a:xfrm>
            <a:off x="8613648" y="36758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Competition – compete against best students</a:t>
            </a:r>
            <a:endParaRPr lang="en-US" sz="1100" dirty="0"/>
          </a:p>
        </p:txBody>
      </p:sp>
      <p:sp>
        <p:nvSpPr>
          <p:cNvPr id="47" name="Shape 27"/>
          <p:cNvSpPr/>
          <p:nvPr/>
        </p:nvSpPr>
        <p:spPr>
          <a:xfrm>
            <a:off x="8439912" y="4352544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48" name="Text 28"/>
          <p:cNvSpPr/>
          <p:nvPr/>
        </p:nvSpPr>
        <p:spPr>
          <a:xfrm>
            <a:off x="8613648" y="424281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Elevation – school's AI identity on stage</a:t>
            </a:r>
            <a:endParaRPr lang="en-US" sz="1100" dirty="0"/>
          </a:p>
        </p:txBody>
      </p:sp>
      <p:sp>
        <p:nvSpPr>
          <p:cNvPr id="49" name="Shape 29"/>
          <p:cNvSpPr/>
          <p:nvPr/>
        </p:nvSpPr>
        <p:spPr>
          <a:xfrm>
            <a:off x="8439912" y="4919472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50" name="Text 30"/>
          <p:cNvSpPr/>
          <p:nvPr/>
        </p:nvSpPr>
        <p:spPr>
          <a:xfrm>
            <a:off x="8613648" y="480974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Skill Objectives – national AI framework</a:t>
            </a:r>
            <a:endParaRPr lang="en-US" sz="1100" dirty="0"/>
          </a:p>
        </p:txBody>
      </p:sp>
      <p:sp>
        <p:nvSpPr>
          <p:cNvPr id="51" name="Shape 31"/>
          <p:cNvSpPr/>
          <p:nvPr/>
        </p:nvSpPr>
        <p:spPr>
          <a:xfrm>
            <a:off x="8439912" y="5486400"/>
            <a:ext cx="82296" cy="822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52" name="Text 32"/>
          <p:cNvSpPr/>
          <p:nvPr/>
        </p:nvSpPr>
        <p:spPr>
          <a:xfrm>
            <a:off x="8613648" y="537667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 – algorithm design &amp; abstraction</a:t>
            </a:r>
            <a:endParaRPr lang="en-US" sz="1100" dirty="0"/>
          </a:p>
        </p:txBody>
      </p:sp>
      <p:pic>
        <p:nvPicPr>
          <p:cNvPr id="53" name="Picture 52" descr="_pptx_img_5_4406537264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Rectangle 4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_pptx_img_7_4406759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Picture 2" descr="_pptx_img_5_44063998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4" name="Picture 3" descr="_pptx_img_6_44065374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0" y="2743200"/>
            <a:ext cx="4572000" cy="4572000"/>
          </a:xfrm>
          <a:prstGeom prst="rect">
            <a:avLst/>
          </a:prstGeom>
        </p:spPr>
      </p:pic>
      <p:pic>
        <p:nvPicPr>
          <p:cNvPr id="5" name="Picture 4" descr="_pptx_img_5_44065318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-1371600"/>
            <a:ext cx="5029200" cy="5029200"/>
          </a:xfrm>
          <a:prstGeom prst="rect">
            <a:avLst/>
          </a:prstGeom>
        </p:spPr>
      </p:pic>
      <p:pic>
        <p:nvPicPr>
          <p:cNvPr id="6" name="Picture 5" descr="_pptx_img_6_44065348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59" y="292608"/>
            <a:ext cx="1828799" cy="3474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4360" y="292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ECOSYSTEM</a:t>
            </a:r>
            <a:endParaRPr lang="en-US" sz="1100" dirty="0"/>
          </a:p>
        </p:txBody>
      </p:sp>
      <p:sp>
        <p:nvSpPr>
          <p:cNvPr id="8" name="Text 1"/>
          <p:cNvSpPr/>
          <p:nvPr/>
        </p:nvSpPr>
        <p:spPr>
          <a:xfrm>
            <a:off x="594360" y="7772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AI Ecosystem</a:t>
            </a:r>
            <a:endParaRPr lang="en-US" sz="3600" dirty="0"/>
          </a:p>
        </p:txBody>
      </p:sp>
      <p:sp>
        <p:nvSpPr>
          <p:cNvPr id="9" name="Text 2"/>
          <p:cNvSpPr/>
          <p:nvPr/>
        </p:nvSpPr>
        <p:spPr>
          <a:xfrm>
            <a:off x="5943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integrated pillars — designed to work together as a seamless institutional framework</a:t>
            </a:r>
            <a:endParaRPr lang="en-US" sz="1300" dirty="0"/>
          </a:p>
        </p:txBody>
      </p:sp>
      <p:pic>
        <p:nvPicPr>
          <p:cNvPr id="10" name="Picture 9" descr="_pptx_img_6_44065358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938528"/>
            <a:ext cx="3200400" cy="45720"/>
          </a:xfrm>
          <a:prstGeom prst="rect">
            <a:avLst/>
          </a:prstGeom>
        </p:spPr>
      </p:pic>
      <p:pic>
        <p:nvPicPr>
          <p:cNvPr id="11" name="Picture 10" descr="_pptx_img_10_44068560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2103120"/>
            <a:ext cx="11384280" cy="530352"/>
          </a:xfrm>
          <a:prstGeom prst="rect">
            <a:avLst/>
          </a:prstGeom>
        </p:spPr>
      </p:pic>
      <p:pic>
        <p:nvPicPr>
          <p:cNvPr id="12" name="Picture 11" descr="_pptx_img_10_440676716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2185416"/>
            <a:ext cx="365760" cy="36576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1005840" y="21031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Seminars</a:t>
            </a:r>
            <a:endParaRPr lang="en-US" sz="1200" dirty="0"/>
          </a:p>
        </p:txBody>
      </p:sp>
      <p:sp>
        <p:nvSpPr>
          <p:cNvPr id="14" name="Text 4"/>
          <p:cNvSpPr/>
          <p:nvPr/>
        </p:nvSpPr>
        <p:spPr>
          <a:xfrm>
            <a:off x="3474720" y="210312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sessions/month · AI researchers, CEOs &amp; founders sharing real industrial challenges</a:t>
            </a:r>
            <a:endParaRPr lang="en-US" sz="1100" dirty="0"/>
          </a:p>
        </p:txBody>
      </p:sp>
      <p:pic>
        <p:nvPicPr>
          <p:cNvPr id="15" name="Picture 14" descr="_pptx_img_10_440676928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" y="2660904"/>
            <a:ext cx="11384280" cy="530352"/>
          </a:xfrm>
          <a:prstGeom prst="rect">
            <a:avLst/>
          </a:prstGeom>
        </p:spPr>
      </p:pic>
      <p:pic>
        <p:nvPicPr>
          <p:cNvPr id="16" name="Picture 15" descr="_pptx_img_10_440676956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2743200"/>
            <a:ext cx="365760" cy="36576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005840" y="266090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Visits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3474720" y="266090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visit/month · Students observe AI &amp; automation in live production environments</a:t>
            </a:r>
            <a:endParaRPr lang="en-US" sz="1100" dirty="0"/>
          </a:p>
        </p:txBody>
      </p:sp>
      <p:pic>
        <p:nvPicPr>
          <p:cNvPr id="19" name="Picture 18" descr="_pptx_img_10_440675627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048" y="3218688"/>
            <a:ext cx="11384280" cy="530352"/>
          </a:xfrm>
          <a:prstGeom prst="rect">
            <a:avLst/>
          </a:prstGeom>
        </p:spPr>
      </p:pic>
      <p:pic>
        <p:nvPicPr>
          <p:cNvPr id="20" name="Picture 19" descr="_pptx_img_10_440676812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" y="3300984"/>
            <a:ext cx="365760" cy="36576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1005840" y="321868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Club Formation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3474720" y="321868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Peer-led AI club · Innovation teams, project collaboration &amp; student AI leadership</a:t>
            </a:r>
            <a:endParaRPr lang="en-US" sz="1100" dirty="0"/>
          </a:p>
        </p:txBody>
      </p:sp>
      <p:pic>
        <p:nvPicPr>
          <p:cNvPr id="23" name="Picture 22" descr="_pptx_img_10_440676318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048" y="3776472"/>
            <a:ext cx="11384280" cy="530352"/>
          </a:xfrm>
          <a:prstGeom prst="rect">
            <a:avLst/>
          </a:prstGeom>
        </p:spPr>
      </p:pic>
      <p:pic>
        <p:nvPicPr>
          <p:cNvPr id="24" name="Picture 23" descr="_pptx_img_10_440675680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920" y="3858768"/>
            <a:ext cx="365760" cy="36576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1005840" y="377647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Ecosystem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3474720" y="377647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displays, smart labs, innovation boards &amp; tech-integrated culture campus-wide</a:t>
            </a:r>
            <a:endParaRPr lang="en-US" sz="1100" dirty="0"/>
          </a:p>
        </p:txBody>
      </p:sp>
      <p:pic>
        <p:nvPicPr>
          <p:cNvPr id="27" name="Picture 26" descr="_pptx_img_10_440676841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4048" y="4334256"/>
            <a:ext cx="11384280" cy="530352"/>
          </a:xfrm>
          <a:prstGeom prst="rect">
            <a:avLst/>
          </a:prstGeom>
        </p:spPr>
      </p:pic>
      <p:pic>
        <p:nvPicPr>
          <p:cNvPr id="28" name="Picture 27" descr="_pptx_img_10_440676913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2920" y="4416552"/>
            <a:ext cx="365760" cy="365760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1005840" y="433425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Activities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3474720" y="4334256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quizzes, challenges, AI games &amp; comprehension competitions for cognitive agility</a:t>
            </a:r>
            <a:endParaRPr lang="en-US" sz="1100" dirty="0"/>
          </a:p>
        </p:txBody>
      </p:sp>
      <p:pic>
        <p:nvPicPr>
          <p:cNvPr id="31" name="Picture 30" descr="_pptx_img_10_440676462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4048" y="4892040"/>
            <a:ext cx="11384280" cy="530352"/>
          </a:xfrm>
          <a:prstGeom prst="rect">
            <a:avLst/>
          </a:prstGeom>
        </p:spPr>
      </p:pic>
      <p:pic>
        <p:nvPicPr>
          <p:cNvPr id="32" name="Picture 31" descr="_pptx_img_10_440676236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2920" y="4974336"/>
            <a:ext cx="365760" cy="365760"/>
          </a:xfrm>
          <a:prstGeom prst="rect">
            <a:avLst/>
          </a:prstGeom>
        </p:spPr>
      </p:pic>
      <p:sp>
        <p:nvSpPr>
          <p:cNvPr id="33" name="Text 13"/>
          <p:cNvSpPr/>
          <p:nvPr/>
        </p:nvSpPr>
        <p:spPr>
          <a:xfrm>
            <a:off x="1005840" y="48920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 Hackathons × 2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3474720" y="489204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annual campus hackathons · Real problems, time-constrained builds, industry judging</a:t>
            </a:r>
            <a:endParaRPr lang="en-US" sz="1100" dirty="0"/>
          </a:p>
        </p:txBody>
      </p:sp>
      <p:pic>
        <p:nvPicPr>
          <p:cNvPr id="35" name="Picture 34" descr="_pptx_img_10_4406766496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4048" y="5449824"/>
            <a:ext cx="11384280" cy="530352"/>
          </a:xfrm>
          <a:prstGeom prst="rect">
            <a:avLst/>
          </a:prstGeom>
        </p:spPr>
      </p:pic>
      <p:pic>
        <p:nvPicPr>
          <p:cNvPr id="36" name="Picture 35" descr="_pptx_img_10_440676990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2920" y="5532120"/>
            <a:ext cx="365760" cy="365760"/>
          </a:xfrm>
          <a:prstGeom prst="rect">
            <a:avLst/>
          </a:prstGeom>
        </p:spPr>
      </p:pic>
      <p:sp>
        <p:nvSpPr>
          <p:cNvPr id="37" name="Text 15"/>
          <p:cNvSpPr/>
          <p:nvPr/>
        </p:nvSpPr>
        <p:spPr>
          <a:xfrm>
            <a:off x="1005840" y="544982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Hackathon × 1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3474720" y="544982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multi-institution event · Competitive excellence, brand elevation &amp; recognition</a:t>
            </a:r>
            <a:endParaRPr lang="en-US" sz="1100" dirty="0"/>
          </a:p>
        </p:txBody>
      </p:sp>
      <p:pic>
        <p:nvPicPr>
          <p:cNvPr id="39" name="Picture 38" descr="_pptx_img_10_440676928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" y="6007608"/>
            <a:ext cx="11384280" cy="530352"/>
          </a:xfrm>
          <a:prstGeom prst="rect">
            <a:avLst/>
          </a:prstGeom>
        </p:spPr>
      </p:pic>
      <p:pic>
        <p:nvPicPr>
          <p:cNvPr id="40" name="Picture 39" descr="_pptx_img_10_4406761936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2920" y="6089904"/>
            <a:ext cx="365760" cy="365760"/>
          </a:xfrm>
          <a:prstGeom prst="rect">
            <a:avLst/>
          </a:prstGeom>
        </p:spPr>
      </p:pic>
      <p:sp>
        <p:nvSpPr>
          <p:cNvPr id="41" name="Text 17"/>
          <p:cNvSpPr/>
          <p:nvPr/>
        </p:nvSpPr>
        <p:spPr>
          <a:xfrm>
            <a:off x="1005840" y="60076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Theory Classes</a:t>
            </a:r>
            <a:endParaRPr lang="en-US" sz="1200" dirty="0"/>
          </a:p>
        </p:txBody>
      </p:sp>
      <p:sp>
        <p:nvSpPr>
          <p:cNvPr id="42" name="Text 18"/>
          <p:cNvSpPr/>
          <p:nvPr/>
        </p:nvSpPr>
        <p:spPr>
          <a:xfrm>
            <a:off x="3474720" y="600760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Curriculum-aligned AI theory · Computational thinking, logical reasoning &amp; AI literacy</a:t>
            </a:r>
            <a:endParaRPr lang="en-US" sz="1100" dirty="0"/>
          </a:p>
        </p:txBody>
      </p:sp>
      <p:pic>
        <p:nvPicPr>
          <p:cNvPr id="43" name="Picture 42" descr="_pptx_img_10_4406534144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23160" y="6492240"/>
            <a:ext cx="7315200" cy="182880"/>
          </a:xfrm>
          <a:prstGeom prst="rect">
            <a:avLst/>
          </a:prstGeom>
        </p:spPr>
      </p:pic>
      <p:sp>
        <p:nvSpPr>
          <p:cNvPr id="44" name="Text 19"/>
          <p:cNvSpPr/>
          <p:nvPr/>
        </p:nvSpPr>
        <p:spPr>
          <a:xfrm>
            <a:off x="548640" y="6601968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NextAIQ Edu creates a complete AI ecosystem — integrating theory, industry exposure, innovation culture &amp; structured competency development.</a:t>
            </a:r>
            <a:endParaRPr lang="en-US" sz="950" dirty="0"/>
          </a:p>
        </p:txBody>
      </p:sp>
      <p:pic>
        <p:nvPicPr>
          <p:cNvPr id="45" name="Picture 44" descr="_pptx_img_5_4406537264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68507" y="57125"/>
            <a:ext cx="1452609" cy="400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Rectangle 3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2743200" y="-914400"/>
            <a:ext cx="5486400" cy="3657600"/>
          </a:xfrm>
          <a:prstGeom prst="ellipse">
            <a:avLst/>
          </a:prstGeom>
          <a:solidFill>
            <a:srgbClr val="2A154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27497" y="274320"/>
            <a:ext cx="15367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A Structured Institutional AI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0876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Not a workshop — a comprehensive AI integration framework for schools.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377440"/>
            <a:ext cx="2697480" cy="196596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Industry Seminars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2 sessions/month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377440"/>
            <a:ext cx="2697480" cy="196596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560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63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Industrial Visits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20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1 visit/month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77440"/>
            <a:ext cx="2697480" cy="196596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63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AI Club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20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Peer-led innovation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377440"/>
            <a:ext cx="2697480" cy="196596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560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063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AI-Enabled Campus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520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Smart lab infra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572000"/>
            <a:ext cx="2697480" cy="196596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7548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578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Engagement Activities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150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Weekly challenges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4572000"/>
            <a:ext cx="2697480" cy="196596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7548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2578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Intra Hackathons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7150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2 per year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572000"/>
            <a:ext cx="2697480" cy="196596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7548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2578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Inter-School Hackathon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7150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Annual event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572000"/>
            <a:ext cx="2697480" cy="196596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47548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2578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Theory Classes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7150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CBSE-aligned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ectangle 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0" y="2743200"/>
            <a:ext cx="3657600" cy="3657600"/>
          </a:xfrm>
          <a:prstGeom prst="ellipse">
            <a:avLst/>
          </a:prstGeom>
          <a:solidFill>
            <a:srgbClr val="1A2A5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1828800"/>
            <a:ext cx="3657600" cy="3657600"/>
          </a:xfrm>
          <a:prstGeom prst="ellipse">
            <a:avLst/>
          </a:prstGeom>
          <a:solidFill>
            <a:srgbClr val="2A154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5997" y="457200"/>
            <a:ext cx="26797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WHAT STUDENTS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Three Domains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Our curriculum covers all three AI domains with hands-on projects in 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Computer 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520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Input: Images &amp; Videos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Machines that SEE — recognize faces, detect objects, read X-rays.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29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Face ID · Filters · Cricket DRS · Google Lens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7744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063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Natural Language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520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Input: Text &amp; Speech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931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Machines that UNDERSTAND language — translate, converse, generate.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029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Siri · Google Translate · ChatGPT · Chatbots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37744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063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Statistical Data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3520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Input: Numbers &amp;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31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Machines that find PATTERNS — predict weather, detect fraud.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029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Weather · Stock Market · IPL · Hospital Data</a:t>
            </a:r>
          </a:p>
        </p:txBody>
      </p:sp>
      <p:pic>
        <p:nvPicPr>
          <p:cNvPr id="25" name="Picture 24" descr="cv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303520"/>
            <a:ext cx="16459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ectangle 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4572000" y="0"/>
            <a:ext cx="3657600" cy="2743200"/>
          </a:xfrm>
          <a:prstGeom prst="ellipse">
            <a:avLst/>
          </a:prstGeom>
          <a:solidFill>
            <a:srgbClr val="2A154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56047" y="457200"/>
            <a:ext cx="18796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AI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Real-World AI Examples from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AI in your pocket, on cricket fields, and in hospitals.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14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Cricket DRS — AI on the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260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Hawk-Eye uses CV AI to track ball paths. Decides OUT/NOT OUT in 2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37947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Computer 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37744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39" y="2514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Google Maps — Live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39" y="29260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AI analyzes GPS from millions of phones + traffic data. Predicts fastest route.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39" y="37947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Statistical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Face Unlock — 30,000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2120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Maps 30,000+ points on your face. Unlocks in 0.1s, unique among 8B humans.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60807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Computer Vision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466344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39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AI Detecting TB in Rural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39" y="52120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AI detects Tuberculosis from X-rays with 90%+ accuracy in 30 seconds.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39" y="60807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CV +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Rectangle 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4572000" y="0"/>
            <a:ext cx="3657600" cy="2743200"/>
          </a:xfrm>
          <a:prstGeom prst="ellipse">
            <a:avLst/>
          </a:prstGeom>
          <a:solidFill>
            <a:srgbClr val="1A2A5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1747" y="457200"/>
            <a:ext cx="21082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THE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Progressive Learning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4-tier, 20-week curriculum from AI fundamentals to industrial applications — CBSE &amp; NEP 2020 aligned.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46888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Tier 1 ·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AI 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8EFF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4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What is AI?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AI vs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Python 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Ethics in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46888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60604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Tier 2 · Exploration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ML &amp; Data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429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6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Supervised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Data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Model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Kaggle challenges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46888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260604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Tier 3 ·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CV &amp; NLP 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29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D3EE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6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CNN architectures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Object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Chatbot building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Edge deployment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246888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18320" y="260604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Tier 4 · Mastery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Industrial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429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4 Weeks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Industrial cases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IoT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Capstone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Certification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6400800"/>
            <a:ext cx="11430000" cy="32004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8EFF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📅 20 Weeks   ·   ⏱️ 240+ Hours   ·   🎓 Industry Certification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Rectangle 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1A2A5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0"/>
            <a:ext cx="3657600" cy="3657600"/>
          </a:xfrm>
          <a:prstGeom prst="ellipse">
            <a:avLst/>
          </a:prstGeom>
          <a:solidFill>
            <a:srgbClr val="2A154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41747" y="457200"/>
            <a:ext cx="21082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Smart AI Lab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Turnkey AI labs: GPU workstations, IoT kits, robotics, and cloud connectivity.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mart_lab_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14600"/>
            <a:ext cx="475488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806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Complete AI Learning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80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30-seat Smart Lab — Setup, Installed &amp; Maintained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377440"/>
            <a:ext cx="2834640" cy="137160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468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GPU Workstations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NVIDIA RTX-powered, AI frameworks pre-installed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377440"/>
            <a:ext cx="2834640" cy="137160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468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Robotics Kits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Arduino, Raspberry Pi, ROS-based platforms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931920"/>
            <a:ext cx="2834640" cy="137160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023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IoT Sensor Arrays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Temperature, vibration, camera, environmental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3931920"/>
            <a:ext cx="2834640" cy="137160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4023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Cloud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389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Real-time student progress monitoring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5486400"/>
            <a:ext cx="2834640" cy="137160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5577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AR/VR Headsets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943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Immersive learning &amp; industrial simulation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5486400"/>
            <a:ext cx="2834640" cy="137160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5577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Quarterly Upgrades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5943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24/7 support &amp; infrastructure refresh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3657600" y="0"/>
            <a:ext cx="4572000" cy="2743200"/>
          </a:xfrm>
          <a:prstGeom prst="ellipse">
            <a:avLst/>
          </a:prstGeom>
          <a:solidFill>
            <a:srgbClr val="2A1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41797" y="457200"/>
            <a:ext cx="13081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Student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Measurable impact on capabilities, engagement, and career readiness.</a:t>
            </a:r>
          </a:p>
        </p:txBody>
      </p:sp>
      <p:pic>
        <p:nvPicPr>
          <p:cNvPr id="6" name="Picture 5" descr="india_e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365760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0" y="2560320"/>
            <a:ext cx="7132320" cy="73152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6334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33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Project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700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Complete hands-on AI projects with functional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429000"/>
            <a:ext cx="7132320" cy="73152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520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5021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02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STEM Interest 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53872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3x higher interest in STEM careers.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297679"/>
            <a:ext cx="7132320" cy="73152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38911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37083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87%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708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AI Literacy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40740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Proficiency in AI concepts, Python, models.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5166359"/>
            <a:ext cx="7132320" cy="73152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525779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23951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3+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23951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Project 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27608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Completed AI projects for job interviews.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6035040"/>
            <a:ext cx="7132320" cy="73152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6126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6108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50+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6108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Industry Partners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1447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Direct connections to hiring AI companies.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0" y="914400"/>
            <a:ext cx="2743200" cy="2743200"/>
          </a:xfrm>
          <a:prstGeom prst="ellipse">
            <a:avLst/>
          </a:prstGeom>
          <a:solidFill>
            <a:srgbClr val="1A2A5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98847" y="457200"/>
            <a:ext cx="27940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INSTITUTIONAL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Benefits to Your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Elevate your brand, attract top students, lead in future-ready education.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394960" cy="13258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4871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Rankings &amp; Reputation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8803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Elevate NIRF rankings with cutting-edge AI programs.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377440"/>
            <a:ext cx="5394960" cy="13258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514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599" y="24871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Placement Excellence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599" y="28803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AI-trained students attract top recruiters — 35-45% boost.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5394960" cy="13258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🎖️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9592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NEP 2020 Accreditation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3891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Meet AICTE guidelines with certified framework.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886200"/>
            <a:ext cx="5394960" cy="13258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4023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399592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Revenue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599" y="43891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Premium AI courses as new revenue streams.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94960"/>
            <a:ext cx="5394960" cy="13258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Infrastructure Upgrade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8978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State-of-the-art AI lab at no extra operational cost.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5394960"/>
            <a:ext cx="5394960" cy="13258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599" y="55046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Global Recognition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599" y="58978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Partner with global AI orgs for research &amp; exchange.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ectangle 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4572000" y="-914400"/>
            <a:ext cx="3657600" cy="2743200"/>
          </a:xfrm>
          <a:prstGeom prst="ellipse">
            <a:avLst/>
          </a:prstGeom>
          <a:solidFill>
            <a:srgbClr val="1A2A5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13197" y="457200"/>
            <a:ext cx="17653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Implementation &amp;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We handle everything — from lab design to teacher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394960" cy="42976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🛠️  Setup &amp;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School needs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Custom lab design &amp;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Hardware procurement &amp; 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Software stack &amp; licensing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Network &amp; cloud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Commissioning &amp;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286000"/>
            <a:ext cx="5394960" cy="42976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399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📚  Ongoing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399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Teacher training &amp; certification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399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Monthly curriculum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399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Dedicated support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399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Quarterly progress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399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Annual hackathon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399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Hardware maintenance &amp; upgrades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4572000" y="0"/>
            <a:ext cx="3657600" cy="2743200"/>
          </a:xfrm>
          <a:prstGeom prst="ellipse">
            <a:avLst/>
          </a:prstGeom>
          <a:solidFill>
            <a:srgbClr val="2A1545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13197" y="457200"/>
            <a:ext cx="17653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Investment &amp; Partnership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Flexible models for schools of every size. Transparent pricing.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566160" cy="42976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Small schools &amp; pilots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10-seat AI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Tier 1 &amp; 2 curriculum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Basic IoT 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2 teacher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Email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286000"/>
            <a:ext cx="3566160" cy="42976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31750">
            <a:solidFill>
              <a:srgbClr val="5A5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242316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5A5EF7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Most 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34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Professional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Established institutions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20-seat GPU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069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Full 4-tier curriculum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480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Robotics &amp; IoT full 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892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5 teacher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303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Dedicated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715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Hackathon sponsorship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286000"/>
            <a:ext cx="3566160" cy="42976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560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926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Multi-campus networks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83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Multi-lab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794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Custom curriculum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206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Research partnership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617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Unlimited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029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24/7 premium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440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✓   Co-branded certs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2743200" y="1828800"/>
            <a:ext cx="5486400" cy="3657600"/>
          </a:xfrm>
          <a:prstGeom prst="ellipse">
            <a:avLst/>
          </a:prstGeom>
          <a:solidFill>
            <a:srgbClr val="1A2A5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98947" y="457200"/>
            <a:ext cx="1193800" cy="320040"/>
          </a:xfrm>
          <a:prstGeom prst="roundRect">
            <a:avLst>
              <a:gd name="adj" fmla="val 50000"/>
            </a:avLst>
          </a:prstGeom>
          <a:solidFill>
            <a:srgbClr val="0D1A3A"/>
          </a:solidFill>
          <a:ln w="12700">
            <a:solidFill>
              <a:srgbClr val="1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F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Roadmap &amp; Long-Term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Scaling from 5 cities to national coverage — India as the global AI-ready leader.</a:t>
            </a:r>
          </a:p>
        </p:txBody>
      </p:sp>
      <p:pic>
        <p:nvPicPr>
          <p:cNvPr id="6" name="Picture 5" descr="india_e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0"/>
            <a:ext cx="41148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2560320"/>
            <a:ext cx="1783080" cy="38404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F8EFF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2025 Q1-Q2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520440"/>
            <a:ext cx="868680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600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50 Schools</a:t>
            </a:r>
            <a:br/>
            <a:r>
              <a:rPr>
                <a:solidFill>
                  <a:srgbClr val="FFFFFF"/>
                </a:solidFill>
              </a:rPr>
              <a:t>5 Cities</a:t>
            </a:r>
            <a:br/>
            <a:r>
              <a:rPr>
                <a:solidFill>
                  <a:srgbClr val="FFFFFF"/>
                </a:solidFill>
              </a:rPr>
              <a:t>5,000 Students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560320"/>
            <a:ext cx="1783080" cy="38404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6974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2025 Q3-Q4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3520440"/>
            <a:ext cx="868680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749039"/>
            <a:ext cx="1600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200 Schools</a:t>
            </a:r>
            <a:br/>
            <a:r>
              <a:rPr>
                <a:solidFill>
                  <a:srgbClr val="FFFFFF"/>
                </a:solidFill>
              </a:rPr>
              <a:t>15 Cities</a:t>
            </a:r>
            <a:br/>
            <a:r>
              <a:rPr>
                <a:solidFill>
                  <a:srgbClr val="FFFFFF"/>
                </a:solidFill>
              </a:rPr>
              <a:t>20,000 Students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560320"/>
            <a:ext cx="1783080" cy="38404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6974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Expansion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520440"/>
            <a:ext cx="868680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749039"/>
            <a:ext cx="1600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500 Schools</a:t>
            </a:r>
            <a:br/>
            <a:r>
              <a:rPr>
                <a:solidFill>
                  <a:srgbClr val="FFFFFF"/>
                </a:solidFill>
              </a:rPr>
              <a:t>30 Cities</a:t>
            </a:r>
            <a:br/>
            <a:r>
              <a:rPr>
                <a:solidFill>
                  <a:srgbClr val="FFFFFF"/>
                </a:solidFill>
              </a:rPr>
              <a:t>Universities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560320"/>
            <a:ext cx="1783080" cy="384048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69748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2027+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17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Vision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3520440"/>
            <a:ext cx="868680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749039"/>
            <a:ext cx="1600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2000+ Schools</a:t>
            </a:r>
            <a:br/>
            <a:r>
              <a:rPr>
                <a:solidFill>
                  <a:srgbClr val="FFFFFF"/>
                </a:solidFill>
              </a:rPr>
              <a:t>National Coverage</a:t>
            </a:r>
            <a:br/>
            <a:r>
              <a:rPr>
                <a:solidFill>
                  <a:srgbClr val="FFFFFF"/>
                </a:solidFill>
              </a:rPr>
              <a:t>Global Partnerships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F8EFF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🎯  Vision: Make India the global leader in AI-ready graduates by 2030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1828800" y="914400"/>
            <a:ext cx="3657600" cy="3657600"/>
          </a:xfrm>
          <a:prstGeom prst="ellipse">
            <a:avLst/>
          </a:prstGeom>
          <a:solidFill>
            <a:srgbClr val="1A2A5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2A1545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_ne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5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Ready to Transform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A855F7"/>
                </a:solidFill>
                <a:latin typeface="Outfit"/>
              </a:defRPr>
            </a:pPr>
            <a:r>
              <a:rPr>
                <a:solidFill>
                  <a:srgbClr val="FFFFFF"/>
                </a:solidFill>
              </a:rPr>
              <a:t>Your School?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Join the NextAIQ-Edu network and give your students the AI advantage they deserve. Let's build the future of education —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5A5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Schedule a Consultation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4023360"/>
            <a:ext cx="2286000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F0F5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↑  Back to 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2194560" cy="54864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📧  edu@nextaiqlabs.com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5029200"/>
            <a:ext cx="2194560" cy="54864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5074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🌐  nextaiqlabs.com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5029200"/>
            <a:ext cx="2194560" cy="548640"/>
          </a:xfrm>
          <a:prstGeom prst="roundRect">
            <a:avLst>
              <a:gd name="adj" fmla="val 4000"/>
            </a:avLst>
          </a:prstGeom>
          <a:solidFill>
            <a:srgbClr val="101028">
              <a:alpha val="82000"/>
            </a:srgbClr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5074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📞  Contact Sales</a:t>
            </a:r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0"/>
            <a:ext cx="164592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6355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8B"/>
                </a:solidFill>
                <a:latin typeface="Inter"/>
              </a:defRPr>
            </a:pPr>
            <a:r>
              <a:rPr>
                <a:solidFill>
                  <a:srgbClr val="FFFFFF"/>
                </a:solidFill>
              </a:rPr>
              <a:t>© 2026 NextAIQ Labs — NextAIQ-Edu Division. Transforming Education. Empowering Futures.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