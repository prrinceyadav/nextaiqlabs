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13"/>
    <p:restoredTop sz="94610"/>
  </p:normalViewPr>
  <p:slideViewPr>
    <p:cSldViewPr snapToGrid="0" snapToObjects="1">
      <p:cViewPr>
        <p:scale>
          <a:sx n="120" d="100"/>
          <a:sy n="120" d="100"/>
        </p:scale>
        <p:origin x="80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97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6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Relationship Id="rId7" Type="http://schemas.openxmlformats.org/officeDocument/2006/relationships/image" Target="../media/image5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5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Relationship Id="rId7" Type="http://schemas.openxmlformats.org/officeDocument/2006/relationships/image" Target="../media/image5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Relationship Id="rId15" Type="http://schemas.openxmlformats.org/officeDocument/2006/relationships/image" Target="../media/image57.png"/><Relationship Id="rId16" Type="http://schemas.openxmlformats.org/officeDocument/2006/relationships/image" Target="../media/image58.png"/><Relationship Id="rId17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Relationship Id="rId13" Type="http://schemas.openxmlformats.org/officeDocument/2006/relationships/image" Target="../media/image65.png"/><Relationship Id="rId14" Type="http://schemas.openxmlformats.org/officeDocument/2006/relationships/image" Target="../media/image66.png"/><Relationship Id="rId15" Type="http://schemas.openxmlformats.org/officeDocument/2006/relationships/image" Target="../media/image67.png"/><Relationship Id="rId16" Type="http://schemas.openxmlformats.org/officeDocument/2006/relationships/image" Target="../media/image68.png"/><Relationship Id="rId17" Type="http://schemas.openxmlformats.org/officeDocument/2006/relationships/image" Target="../media/image69.png"/><Relationship Id="rId18" Type="http://schemas.openxmlformats.org/officeDocument/2006/relationships/image" Target="../media/image70.png"/><Relationship Id="rId19" Type="http://schemas.openxmlformats.org/officeDocument/2006/relationships/image" Target="../media/image71.png"/><Relationship Id="rId20" Type="http://schemas.openxmlformats.org/officeDocument/2006/relationships/image" Target="../media/image72.png"/><Relationship Id="rId21" Type="http://schemas.openxmlformats.org/officeDocument/2006/relationships/image" Target="../media/image73.png"/><Relationship Id="rId22" Type="http://schemas.openxmlformats.org/officeDocument/2006/relationships/image" Target="../media/image74.png"/><Relationship Id="rId23" Type="http://schemas.openxmlformats.org/officeDocument/2006/relationships/image" Target="../media/image75.png"/><Relationship Id="rId2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6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png"/><Relationship Id="rId13" Type="http://schemas.openxmlformats.org/officeDocument/2006/relationships/image" Target="../media/image79.png"/><Relationship Id="rId14" Type="http://schemas.openxmlformats.org/officeDocument/2006/relationships/image" Target="../media/image80.png"/><Relationship Id="rId15" Type="http://schemas.openxmlformats.org/officeDocument/2006/relationships/image" Target="../media/image81.png"/><Relationship Id="rId16" Type="http://schemas.openxmlformats.org/officeDocument/2006/relationships/image" Target="../media/image16.png"/><Relationship Id="rId17" Type="http://schemas.openxmlformats.org/officeDocument/2006/relationships/image" Target="../media/image36.png"/><Relationship Id="rId18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Relationship Id="rId7" Type="http://schemas.openxmlformats.org/officeDocument/2006/relationships/image" Target="../media/image5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8.png"/><Relationship Id="rId15" Type="http://schemas.openxmlformats.org/officeDocument/2006/relationships/image" Target="../media/image89.png"/><Relationship Id="rId16" Type="http://schemas.openxmlformats.org/officeDocument/2006/relationships/image" Target="../media/image90.png"/><Relationship Id="rId17" Type="http://schemas.openxmlformats.org/officeDocument/2006/relationships/image" Target="../media/image91.png"/><Relationship Id="rId18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1" Type="http://schemas.openxmlformats.org/officeDocument/2006/relationships/image" Target="../media/image96.png"/><Relationship Id="rId12" Type="http://schemas.openxmlformats.org/officeDocument/2006/relationships/image" Target="../media/image97.png"/><Relationship Id="rId13" Type="http://schemas.openxmlformats.org/officeDocument/2006/relationships/image" Target="../media/image98.png"/><Relationship Id="rId14" Type="http://schemas.openxmlformats.org/officeDocument/2006/relationships/image" Target="../media/image99.png"/><Relationship Id="rId15" Type="http://schemas.openxmlformats.org/officeDocument/2006/relationships/image" Target="../media/image100.png"/><Relationship Id="rId16" Type="http://schemas.openxmlformats.org/officeDocument/2006/relationships/image" Target="../media/image101.png"/><Relationship Id="rId17" Type="http://schemas.openxmlformats.org/officeDocument/2006/relationships/image" Target="../media/image102.png"/><Relationship Id="rId18" Type="http://schemas.openxmlformats.org/officeDocument/2006/relationships/image" Target="../media/image103.png"/><Relationship Id="rId19" Type="http://schemas.openxmlformats.org/officeDocument/2006/relationships/image" Target="../media/image104.png"/><Relationship Id="rId20" Type="http://schemas.openxmlformats.org/officeDocument/2006/relationships/image" Target="../media/image105.png"/><Relationship Id="rId21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106.png"/><Relationship Id="rId10" Type="http://schemas.openxmlformats.org/officeDocument/2006/relationships/image" Target="../media/image107.png"/><Relationship Id="rId11" Type="http://schemas.openxmlformats.org/officeDocument/2006/relationships/image" Target="../media/image108.png"/><Relationship Id="rId12" Type="http://schemas.openxmlformats.org/officeDocument/2006/relationships/image" Target="../media/image109.png"/><Relationship Id="rId13" Type="http://schemas.openxmlformats.org/officeDocument/2006/relationships/image" Target="../media/image110.png"/><Relationship Id="rId14" Type="http://schemas.openxmlformats.org/officeDocument/2006/relationships/image" Target="../media/image111.png"/><Relationship Id="rId15" Type="http://schemas.openxmlformats.org/officeDocument/2006/relationships/image" Target="../media/image112.png"/><Relationship Id="rId16" Type="http://schemas.openxmlformats.org/officeDocument/2006/relationships/image" Target="../media/image113.png"/><Relationship Id="rId17" Type="http://schemas.openxmlformats.org/officeDocument/2006/relationships/image" Target="../media/image114.png"/><Relationship Id="rId18" Type="http://schemas.openxmlformats.org/officeDocument/2006/relationships/image" Target="../media/image115.png"/><Relationship Id="rId19" Type="http://schemas.openxmlformats.org/officeDocument/2006/relationships/image" Target="../media/image116.png"/><Relationship Id="rId20" Type="http://schemas.openxmlformats.org/officeDocument/2006/relationships/image" Target="../media/image117.png"/><Relationship Id="rId21" Type="http://schemas.openxmlformats.org/officeDocument/2006/relationships/image" Target="../media/image118.png"/><Relationship Id="rId22" Type="http://schemas.openxmlformats.org/officeDocument/2006/relationships/image" Target="../media/image119.png"/><Relationship Id="rId23" Type="http://schemas.openxmlformats.org/officeDocument/2006/relationships/image" Target="../media/image120.png"/><Relationship Id="rId24" Type="http://schemas.openxmlformats.org/officeDocument/2006/relationships/image" Target="../media/image121.png"/><Relationship Id="rId25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Relationship Id="rId7" Type="http://schemas.openxmlformats.org/officeDocument/2006/relationships/image" Target="../media/image6.png"/><Relationship Id="rId8" Type="http://schemas.openxmlformats.org/officeDocument/2006/relationships/image" Target="../media/image122.png"/><Relationship Id="rId9" Type="http://schemas.openxmlformats.org/officeDocument/2006/relationships/image" Target="../media/image123.png"/><Relationship Id="rId10" Type="http://schemas.openxmlformats.org/officeDocument/2006/relationships/image" Target="../media/image124.png"/><Relationship Id="rId11" Type="http://schemas.openxmlformats.org/officeDocument/2006/relationships/image" Target="../media/image125.png"/><Relationship Id="rId12" Type="http://schemas.openxmlformats.org/officeDocument/2006/relationships/image" Target="../media/image126.png"/><Relationship Id="rId13" Type="http://schemas.openxmlformats.org/officeDocument/2006/relationships/image" Target="../media/image127.png"/><Relationship Id="rId14" Type="http://schemas.openxmlformats.org/officeDocument/2006/relationships/image" Target="../media/image128.png"/><Relationship Id="rId15" Type="http://schemas.openxmlformats.org/officeDocument/2006/relationships/image" Target="../media/image129.png"/><Relationship Id="rId16" Type="http://schemas.openxmlformats.org/officeDocument/2006/relationships/image" Target="../media/image130.png"/><Relationship Id="rId17" Type="http://schemas.openxmlformats.org/officeDocument/2006/relationships/image" Target="../media/image131.png"/><Relationship Id="rId18" Type="http://schemas.openxmlformats.org/officeDocument/2006/relationships/image" Target="../media/image132.png"/><Relationship Id="rId19" Type="http://schemas.openxmlformats.org/officeDocument/2006/relationships/image" Target="../media/image133.png"/><Relationship Id="rId20" Type="http://schemas.openxmlformats.org/officeDocument/2006/relationships/image" Target="../media/image134.png"/><Relationship Id="rId21" Type="http://schemas.openxmlformats.org/officeDocument/2006/relationships/image" Target="../media/image135.png"/><Relationship Id="rId22" Type="http://schemas.openxmlformats.org/officeDocument/2006/relationships/image" Target="../media/image136.png"/><Relationship Id="rId23" Type="http://schemas.openxmlformats.org/officeDocument/2006/relationships/image" Target="../media/image137.png"/><Relationship Id="rId24" Type="http://schemas.openxmlformats.org/officeDocument/2006/relationships/image" Target="../media/image138.png"/><Relationship Id="rId25" Type="http://schemas.openxmlformats.org/officeDocument/2006/relationships/image" Target="../media/image139.png"/><Relationship Id="rId26" Type="http://schemas.openxmlformats.org/officeDocument/2006/relationships/image" Target="../media/image140.png"/><Relationship Id="rId27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141.png"/><Relationship Id="rId10" Type="http://schemas.openxmlformats.org/officeDocument/2006/relationships/image" Target="../media/image142.png"/><Relationship Id="rId11" Type="http://schemas.openxmlformats.org/officeDocument/2006/relationships/image" Target="../media/image143.png"/><Relationship Id="rId12" Type="http://schemas.openxmlformats.org/officeDocument/2006/relationships/image" Target="../media/image144.png"/><Relationship Id="rId13" Type="http://schemas.openxmlformats.org/officeDocument/2006/relationships/image" Target="../media/image145.png"/><Relationship Id="rId14" Type="http://schemas.openxmlformats.org/officeDocument/2006/relationships/image" Target="../media/image146.png"/><Relationship Id="rId15" Type="http://schemas.openxmlformats.org/officeDocument/2006/relationships/image" Target="../media/image147.png"/><Relationship Id="rId16" Type="http://schemas.openxmlformats.org/officeDocument/2006/relationships/image" Target="../media/image148.png"/><Relationship Id="rId17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6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141.png"/><Relationship Id="rId11" Type="http://schemas.openxmlformats.org/officeDocument/2006/relationships/image" Target="../media/image142.png"/><Relationship Id="rId12" Type="http://schemas.openxmlformats.org/officeDocument/2006/relationships/image" Target="../media/image143.png"/><Relationship Id="rId13" Type="http://schemas.openxmlformats.org/officeDocument/2006/relationships/image" Target="../media/image145.png"/><Relationship Id="rId14" Type="http://schemas.openxmlformats.org/officeDocument/2006/relationships/image" Target="../media/image146.png"/><Relationship Id="rId15" Type="http://schemas.openxmlformats.org/officeDocument/2006/relationships/image" Target="../media/image144.png"/><Relationship Id="rId16" Type="http://schemas.openxmlformats.org/officeDocument/2006/relationships/image" Target="../media/image149.png"/><Relationship Id="rId17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Relationship Id="rId7" Type="http://schemas.openxmlformats.org/officeDocument/2006/relationships/image" Target="../media/image5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150.png"/><Relationship Id="rId11" Type="http://schemas.openxmlformats.org/officeDocument/2006/relationships/image" Target="../media/image151.png"/><Relationship Id="rId12" Type="http://schemas.openxmlformats.org/officeDocument/2006/relationships/image" Target="../media/image152.png"/><Relationship Id="rId13" Type="http://schemas.openxmlformats.org/officeDocument/2006/relationships/image" Target="../media/image153.png"/><Relationship Id="rId14" Type="http://schemas.openxmlformats.org/officeDocument/2006/relationships/image" Target="../media/image154.png"/><Relationship Id="rId15" Type="http://schemas.openxmlformats.org/officeDocument/2006/relationships/image" Target="../media/image155.png"/><Relationship Id="rId16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22.png"/><Relationship Id="rId9" Type="http://schemas.openxmlformats.org/officeDocument/2006/relationships/image" Target="../media/image123.png"/><Relationship Id="rId10" Type="http://schemas.openxmlformats.org/officeDocument/2006/relationships/image" Target="../media/image156.png"/><Relationship Id="rId11" Type="http://schemas.openxmlformats.org/officeDocument/2006/relationships/image" Target="../media/image157.png"/><Relationship Id="rId12" Type="http://schemas.openxmlformats.org/officeDocument/2006/relationships/image" Target="../media/image158.png"/><Relationship Id="rId13" Type="http://schemas.openxmlformats.org/officeDocument/2006/relationships/image" Target="../media/image159.png"/><Relationship Id="rId14" Type="http://schemas.openxmlformats.org/officeDocument/2006/relationships/image" Target="../media/image160.png"/><Relationship Id="rId15" Type="http://schemas.openxmlformats.org/officeDocument/2006/relationships/image" Target="../media/image161.png"/><Relationship Id="rId16" Type="http://schemas.openxmlformats.org/officeDocument/2006/relationships/image" Target="../media/image162.png"/><Relationship Id="rId17" Type="http://schemas.openxmlformats.org/officeDocument/2006/relationships/image" Target="../media/image163.png"/><Relationship Id="rId18" Type="http://schemas.openxmlformats.org/officeDocument/2006/relationships/image" Target="../media/image164.png"/><Relationship Id="rId19" Type="http://schemas.openxmlformats.org/officeDocument/2006/relationships/image" Target="../media/image165.png"/><Relationship Id="rId20" Type="http://schemas.openxmlformats.org/officeDocument/2006/relationships/image" Target="../media/image166.png"/><Relationship Id="rId21" Type="http://schemas.openxmlformats.org/officeDocument/2006/relationships/image" Target="../media/image167.png"/><Relationship Id="rId22" Type="http://schemas.openxmlformats.org/officeDocument/2006/relationships/image" Target="../media/image168.png"/><Relationship Id="rId23" Type="http://schemas.openxmlformats.org/officeDocument/2006/relationships/image" Target="../media/image169.png"/><Relationship Id="rId24" Type="http://schemas.openxmlformats.org/officeDocument/2006/relationships/image" Target="../media/image170.png"/><Relationship Id="rId25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5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171.png"/><Relationship Id="rId11" Type="http://schemas.openxmlformats.org/officeDocument/2006/relationships/image" Target="../media/image172.png"/><Relationship Id="rId12" Type="http://schemas.openxmlformats.org/officeDocument/2006/relationships/image" Target="../media/image173.png"/><Relationship Id="rId13" Type="http://schemas.openxmlformats.org/officeDocument/2006/relationships/image" Target="../media/image174.png"/><Relationship Id="rId14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Relationship Id="rId7" Type="http://schemas.openxmlformats.org/officeDocument/2006/relationships/image" Target="../media/image6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175.png"/><Relationship Id="rId11" Type="http://schemas.openxmlformats.org/officeDocument/2006/relationships/image" Target="../media/image176.png"/><Relationship Id="rId12" Type="http://schemas.openxmlformats.org/officeDocument/2006/relationships/image" Target="../media/image177.png"/><Relationship Id="rId13" Type="http://schemas.openxmlformats.org/officeDocument/2006/relationships/image" Target="../media/image178.png"/><Relationship Id="rId14" Type="http://schemas.openxmlformats.org/officeDocument/2006/relationships/image" Target="../media/image179.png"/><Relationship Id="rId15" Type="http://schemas.openxmlformats.org/officeDocument/2006/relationships/image" Target="../media/image180.png"/><Relationship Id="rId16" Type="http://schemas.openxmlformats.org/officeDocument/2006/relationships/image" Target="../media/image181.png"/><Relationship Id="rId17" Type="http://schemas.openxmlformats.org/officeDocument/2006/relationships/image" Target="../media/image182.png"/><Relationship Id="rId18" Type="http://schemas.openxmlformats.org/officeDocument/2006/relationships/image" Target="../media/image183.png"/><Relationship Id="rId19" Type="http://schemas.openxmlformats.org/officeDocument/2006/relationships/image" Target="../media/image184.png"/><Relationship Id="rId20" Type="http://schemas.openxmlformats.org/officeDocument/2006/relationships/image" Target="../media/image185.png"/><Relationship Id="rId21" Type="http://schemas.openxmlformats.org/officeDocument/2006/relationships/image" Target="../media/image186.png"/><Relationship Id="rId22" Type="http://schemas.openxmlformats.org/officeDocument/2006/relationships/image" Target="../media/image187.png"/><Relationship Id="rId23" Type="http://schemas.openxmlformats.org/officeDocument/2006/relationships/image" Target="../media/image188.png"/><Relationship Id="rId24" Type="http://schemas.openxmlformats.org/officeDocument/2006/relationships/image" Target="../media/image189.png"/><Relationship Id="rId25" Type="http://schemas.openxmlformats.org/officeDocument/2006/relationships/image" Target="../media/image190.png"/><Relationship Id="rId26" Type="http://schemas.openxmlformats.org/officeDocument/2006/relationships/image" Target="../media/image191.png"/><Relationship Id="rId27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192.png"/><Relationship Id="rId12" Type="http://schemas.openxmlformats.org/officeDocument/2006/relationships/image" Target="../media/image193.png"/><Relationship Id="rId13" Type="http://schemas.openxmlformats.org/officeDocument/2006/relationships/image" Target="../media/image194.png"/><Relationship Id="rId14" Type="http://schemas.openxmlformats.org/officeDocument/2006/relationships/image" Target="../media/image195.png"/><Relationship Id="rId15" Type="http://schemas.openxmlformats.org/officeDocument/2006/relationships/image" Target="../media/image196.png"/><Relationship Id="rId16" Type="http://schemas.openxmlformats.org/officeDocument/2006/relationships/image" Target="../media/image197.png"/><Relationship Id="rId17" Type="http://schemas.openxmlformats.org/officeDocument/2006/relationships/image" Target="../media/image198.png"/><Relationship Id="rId18" Type="http://schemas.openxmlformats.org/officeDocument/2006/relationships/image" Target="../media/image199.png"/><Relationship Id="rId19" Type="http://schemas.openxmlformats.org/officeDocument/2006/relationships/image" Target="../media/image200.png"/><Relationship Id="rId20" Type="http://schemas.openxmlformats.org/officeDocument/2006/relationships/image" Target="../media/image201.png"/><Relationship Id="rId21" Type="http://schemas.openxmlformats.org/officeDocument/2006/relationships/image" Target="../media/image202.png"/><Relationship Id="rId2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308" y="27432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623060" y="-1111634"/>
            <a:ext cx="5943600" cy="59436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2286000"/>
            <a:ext cx="5029200" cy="50292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274320"/>
            <a:ext cx="2560320" cy="2560320"/>
          </a:xfrm>
          <a:prstGeom prst="rect">
            <a:avLst/>
          </a:prstGeom>
          <a:ln/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0" y="3200400"/>
            <a:ext cx="1645920" cy="1645920"/>
          </a:xfrm>
          <a:prstGeom prst="rect">
            <a:avLst/>
          </a:prstGeom>
          <a:ln/>
        </p:spPr>
      </p:pic>
      <p:sp>
        <p:nvSpPr>
          <p:cNvPr id="8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9" name="Text 1"/>
          <p:cNvSpPr/>
          <p:nvPr/>
        </p:nvSpPr>
        <p:spPr>
          <a:xfrm>
            <a:off x="59436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nextaiQ Labs  ·  Industrial AI &amp; Automation</a:t>
            </a:r>
            <a:endParaRPr lang="en-US" sz="9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1005840"/>
            <a:ext cx="2651760" cy="384048"/>
          </a:xfrm>
          <a:prstGeom prst="rect">
            <a:avLst/>
          </a:prstGeom>
          <a:ln/>
        </p:spPr>
      </p:pic>
      <p:sp>
        <p:nvSpPr>
          <p:cNvPr id="11" name="Text 2"/>
          <p:cNvSpPr/>
          <p:nvPr/>
        </p:nvSpPr>
        <p:spPr>
          <a:xfrm>
            <a:off x="594360" y="10058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POWERED BY nextaiQLabs</a:t>
            </a:r>
            <a:endParaRPr lang="en-US" sz="1000" dirty="0"/>
          </a:p>
        </p:txBody>
      </p:sp>
      <p:sp>
        <p:nvSpPr>
          <p:cNvPr id="12" name="Text 3"/>
          <p:cNvSpPr/>
          <p:nvPr/>
        </p:nvSpPr>
        <p:spPr>
          <a:xfrm>
            <a:off x="59436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kern="0" spc="-5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</a:t>
            </a:r>
            <a:endParaRPr lang="en-US" sz="480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2176272"/>
            <a:ext cx="7772400" cy="1261872"/>
          </a:xfrm>
          <a:prstGeom prst="rect">
            <a:avLst/>
          </a:prstGeom>
          <a:ln/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" y="3246120"/>
            <a:ext cx="7498080" cy="1261872"/>
          </a:xfrm>
          <a:prstGeom prst="rect">
            <a:avLst/>
          </a:prstGeom>
          <a:ln/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4360" y="4617720"/>
            <a:ext cx="3840480" cy="201168"/>
          </a:xfrm>
          <a:prstGeom prst="rect">
            <a:avLst/>
          </a:prstGeom>
          <a:ln/>
        </p:spPr>
      </p:pic>
      <p:sp>
        <p:nvSpPr>
          <p:cNvPr id="16" name="Text 4"/>
          <p:cNvSpPr/>
          <p:nvPr/>
        </p:nvSpPr>
        <p:spPr>
          <a:xfrm>
            <a:off x="594360" y="491947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Students with Industrial AI Skills for Tomorrow's World</a:t>
            </a:r>
            <a:endParaRPr lang="en-US" sz="1500" dirty="0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" y="5623560"/>
            <a:ext cx="2377440" cy="457200"/>
          </a:xfrm>
          <a:prstGeom prst="rect">
            <a:avLst/>
          </a:prstGeom>
          <a:ln/>
        </p:spPr>
      </p:pic>
      <p:sp>
        <p:nvSpPr>
          <p:cNvPr id="18" name="Text 5"/>
          <p:cNvSpPr/>
          <p:nvPr/>
        </p:nvSpPr>
        <p:spPr>
          <a:xfrm>
            <a:off x="594360" y="5623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nextaiq.in/edu  →</a:t>
            </a:r>
            <a:endParaRPr lang="en-US" sz="120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54680" y="5623560"/>
            <a:ext cx="2011680" cy="457200"/>
          </a:xfrm>
          <a:prstGeom prst="rect">
            <a:avLst/>
          </a:prstGeom>
          <a:ln/>
        </p:spPr>
      </p:pic>
      <p:sp>
        <p:nvSpPr>
          <p:cNvPr id="20" name="Text 6"/>
          <p:cNvSpPr/>
          <p:nvPr/>
        </p:nvSpPr>
        <p:spPr>
          <a:xfrm>
            <a:off x="3154680" y="5623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6 – 12</a:t>
            </a:r>
            <a:endParaRPr lang="en-US" sz="1200" dirty="0"/>
          </a:p>
        </p:txBody>
      </p:sp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78240" y="1371600"/>
            <a:ext cx="2971800" cy="1234440"/>
          </a:xfrm>
          <a:prstGeom prst="rect">
            <a:avLst/>
          </a:prstGeom>
          <a:ln/>
        </p:spPr>
      </p:pic>
      <p:sp>
        <p:nvSpPr>
          <p:cNvPr id="22" name="Text 7"/>
          <p:cNvSpPr/>
          <p:nvPr/>
        </p:nvSpPr>
        <p:spPr>
          <a:xfrm>
            <a:off x="8869680" y="14813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240+</a:t>
            </a:r>
            <a:endParaRPr lang="en-US" sz="2800" dirty="0"/>
          </a:p>
        </p:txBody>
      </p:sp>
      <p:sp>
        <p:nvSpPr>
          <p:cNvPr id="23" name="Text 8"/>
          <p:cNvSpPr/>
          <p:nvPr/>
        </p:nvSpPr>
        <p:spPr>
          <a:xfrm>
            <a:off x="9875520" y="15727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24" name="Text 9"/>
          <p:cNvSpPr/>
          <p:nvPr/>
        </p:nvSpPr>
        <p:spPr>
          <a:xfrm>
            <a:off x="886968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Industry-Aligned Curriculum</a:t>
            </a:r>
            <a:endParaRPr lang="en-US" sz="1000" dirty="0"/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0" y="2834640"/>
            <a:ext cx="2560320" cy="1051560"/>
          </a:xfrm>
          <a:prstGeom prst="rect">
            <a:avLst/>
          </a:prstGeom>
          <a:ln/>
        </p:spPr>
      </p:pic>
      <p:sp>
        <p:nvSpPr>
          <p:cNvPr id="26" name="Text 10"/>
          <p:cNvSpPr/>
          <p:nvPr/>
        </p:nvSpPr>
        <p:spPr>
          <a:xfrm>
            <a:off x="9235440" y="2926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Weeks</a:t>
            </a:r>
            <a:endParaRPr lang="en-US" sz="2000" dirty="0"/>
          </a:p>
        </p:txBody>
      </p:sp>
      <p:sp>
        <p:nvSpPr>
          <p:cNvPr id="27" name="Text 11"/>
          <p:cNvSpPr/>
          <p:nvPr/>
        </p:nvSpPr>
        <p:spPr>
          <a:xfrm>
            <a:off x="923544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Program</a:t>
            </a:r>
            <a:endParaRPr lang="en-US" sz="1000" dirty="0"/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69680" y="4114800"/>
            <a:ext cx="2468880" cy="1005840"/>
          </a:xfrm>
          <a:prstGeom prst="rect">
            <a:avLst/>
          </a:prstGeom>
          <a:ln/>
        </p:spPr>
      </p:pic>
      <p:sp>
        <p:nvSpPr>
          <p:cNvPr id="29" name="Text 12"/>
          <p:cNvSpPr/>
          <p:nvPr/>
        </p:nvSpPr>
        <p:spPr>
          <a:xfrm>
            <a:off x="8961120" y="42062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600" dirty="0"/>
          </a:p>
        </p:txBody>
      </p:sp>
      <p:sp>
        <p:nvSpPr>
          <p:cNvPr id="30" name="Text 13"/>
          <p:cNvSpPr/>
          <p:nvPr/>
        </p:nvSpPr>
        <p:spPr>
          <a:xfrm>
            <a:off x="9966960" y="42519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100" dirty="0"/>
          </a:p>
        </p:txBody>
      </p:sp>
      <p:pic>
        <p:nvPicPr>
          <p:cNvPr id="900" name="neural_net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8600" y="6190488"/>
            <a:ext cx="5486400" cy="548640"/>
          </a:xfrm>
          <a:prstGeom prst="rect">
            <a:avLst/>
          </a:prstGeom>
          <a:ln/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F102531-430D-BF25-BBAF-30AA97991D6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30848" y="368122"/>
            <a:ext cx="3104053" cy="85491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4400" y="2743200"/>
            <a:ext cx="4572000" cy="45720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-1371600"/>
            <a:ext cx="5029200" cy="50292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0" y="182880"/>
            <a:ext cx="1828800" cy="1828800"/>
          </a:xfrm>
          <a:prstGeom prst="rect">
            <a:avLst/>
          </a:prstGeom>
          <a:ln/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  <a:ln/>
        </p:spPr>
      </p:pic>
      <p:sp>
        <p:nvSpPr>
          <p:cNvPr id="8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Skill Gap in Schools</a:t>
            </a:r>
            <a:endParaRPr lang="en-US" sz="3600" dirty="0"/>
          </a:p>
        </p:txBody>
      </p:sp>
      <p:sp>
        <p:nvSpPr>
          <p:cNvPr id="10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widening chasm between what industry needs and what schools deliver</a:t>
            </a:r>
            <a:endParaRPr lang="en-US" sz="13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103120"/>
            <a:ext cx="3474720" cy="1737360"/>
          </a:xfrm>
          <a:prstGeom prst="rect">
            <a:avLst/>
          </a:prstGeom>
          <a:ln/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7680" y="2103120"/>
            <a:ext cx="3474720" cy="1737360"/>
          </a:xfrm>
          <a:prstGeom prst="rect">
            <a:avLst/>
          </a:prstGeom>
          <a:ln/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38160" y="2103120"/>
            <a:ext cx="3474720" cy="1737360"/>
          </a:xfrm>
          <a:prstGeom prst="rect">
            <a:avLst/>
          </a:prstGeom>
          <a:ln/>
        </p:spPr>
      </p:pic>
      <p:sp>
        <p:nvSpPr>
          <p:cNvPr id="15" name="Text 3"/>
          <p:cNvSpPr/>
          <p:nvPr/>
        </p:nvSpPr>
        <p:spPr>
          <a:xfrm>
            <a:off x="594360" y="40690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 Identified</a:t>
            </a:r>
            <a:endParaRPr lang="en-US" sz="1500" dirty="0"/>
          </a:p>
        </p:txBody>
      </p:sp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" y="4480560"/>
            <a:ext cx="1645920" cy="36576"/>
          </a:xfrm>
          <a:prstGeom prst="rect">
            <a:avLst/>
          </a:prstGeom>
          <a:ln/>
        </p:spPr>
      </p:pic>
      <p:pic>
        <p:nvPicPr>
          <p:cNvPr id="1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" y="4681728"/>
            <a:ext cx="137160" cy="137160"/>
          </a:xfrm>
          <a:prstGeom prst="rect">
            <a:avLst/>
          </a:prstGeom>
          <a:ln/>
        </p:spPr>
      </p:pic>
      <p:sp>
        <p:nvSpPr>
          <p:cNvPr id="18" name="Text 4"/>
          <p:cNvSpPr/>
          <p:nvPr/>
        </p:nvSpPr>
        <p:spPr>
          <a:xfrm>
            <a:off x="896112" y="464515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exposure to real-world AI tools &amp; platforms</a:t>
            </a:r>
            <a:endParaRPr lang="en-US" sz="1300" dirty="0"/>
          </a:p>
        </p:txBody>
      </p:sp>
      <p:pic>
        <p:nvPicPr>
          <p:cNvPr id="19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" y="5157216"/>
            <a:ext cx="137160" cy="137160"/>
          </a:xfrm>
          <a:prstGeom prst="rect">
            <a:avLst/>
          </a:prstGeom>
          <a:ln/>
        </p:spPr>
      </p:pic>
      <p:sp>
        <p:nvSpPr>
          <p:cNvPr id="20" name="Text 5"/>
          <p:cNvSpPr/>
          <p:nvPr/>
        </p:nvSpPr>
        <p:spPr>
          <a:xfrm>
            <a:off x="896112" y="5120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outdated — still teaching legacy tech</a:t>
            </a:r>
            <a:endParaRPr lang="en-US" sz="1300" dirty="0"/>
          </a:p>
        </p:txBody>
      </p:sp>
      <p:pic>
        <p:nvPicPr>
          <p:cNvPr id="21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" y="5632704"/>
            <a:ext cx="137160" cy="137160"/>
          </a:xfrm>
          <a:prstGeom prst="rect">
            <a:avLst/>
          </a:prstGeom>
          <a:ln/>
        </p:spPr>
      </p:pic>
      <p:sp>
        <p:nvSpPr>
          <p:cNvPr id="22" name="Text 6"/>
          <p:cNvSpPr/>
          <p:nvPr/>
        </p:nvSpPr>
        <p:spPr>
          <a:xfrm>
            <a:off x="896112" y="559612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lack AI training and industry context</a:t>
            </a:r>
            <a:endParaRPr lang="en-US" sz="1300" dirty="0"/>
          </a:p>
        </p:txBody>
      </p:sp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" y="6108192"/>
            <a:ext cx="137160" cy="137160"/>
          </a:xfrm>
          <a:prstGeom prst="rect">
            <a:avLst/>
          </a:prstGeom>
          <a:ln/>
        </p:spPr>
      </p:pic>
      <p:sp>
        <p:nvSpPr>
          <p:cNvPr id="24" name="Text 7"/>
          <p:cNvSpPr/>
          <p:nvPr/>
        </p:nvSpPr>
        <p:spPr>
          <a:xfrm>
            <a:off x="896112" y="607161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hands-on labs or industrial simulation environment</a:t>
            </a:r>
            <a:endParaRPr lang="en-US" sz="1300" dirty="0"/>
          </a:p>
        </p:txBody>
      </p:sp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55280" y="3886200"/>
            <a:ext cx="3840480" cy="2651760"/>
          </a:xfrm>
          <a:prstGeom prst="rect">
            <a:avLst/>
          </a:prstGeom>
          <a:ln/>
        </p:spPr>
      </p:pic>
      <p:sp>
        <p:nvSpPr>
          <p:cNvPr id="26" name="Text 8"/>
          <p:cNvSpPr/>
          <p:nvPr/>
        </p:nvSpPr>
        <p:spPr>
          <a:xfrm>
            <a:off x="8138160" y="4114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Risk</a:t>
            </a:r>
            <a:endParaRPr lang="en-US" sz="1700" dirty="0"/>
          </a:p>
        </p:txBody>
      </p:sp>
      <p:sp>
        <p:nvSpPr>
          <p:cNvPr id="27" name="Text 9"/>
          <p:cNvSpPr/>
          <p:nvPr/>
        </p:nvSpPr>
        <p:spPr>
          <a:xfrm>
            <a:off x="8138160" y="46634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is no longer an optional enhancement — it is becoming a strategic institutional differentiator.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8138160" y="5623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Industry Requires ≠ What Schools Deliver</a:t>
            </a: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5EC794D-6A10-12D2-14A4-A8F73FBAD48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-1828800"/>
            <a:ext cx="5029200" cy="50292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14400" y="3200400"/>
            <a:ext cx="3657600" cy="36576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71600" y="3657600"/>
            <a:ext cx="2743200" cy="2743200"/>
          </a:xfrm>
          <a:prstGeom prst="rect">
            <a:avLst/>
          </a:prstGeom>
          <a:ln/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  <a:ln/>
        </p:spPr>
      </p:pic>
      <p:sp>
        <p:nvSpPr>
          <p:cNvPr id="8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Industrial AI Exposure Matters</a:t>
            </a:r>
            <a:endParaRPr lang="en-US" sz="3600" dirty="0"/>
          </a:p>
        </p:txBody>
      </p:sp>
      <p:sp>
        <p:nvSpPr>
          <p:cNvPr id="10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pillars that make AI education a national imperative</a:t>
            </a:r>
            <a:endParaRPr lang="en-US" sz="13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148840"/>
            <a:ext cx="5486400" cy="2029968"/>
          </a:xfrm>
          <a:prstGeom prst="rect">
            <a:avLst/>
          </a:prstGeom>
          <a:ln/>
        </p:spPr>
      </p:pic>
      <p:sp>
        <p:nvSpPr>
          <p:cNvPr id="13" name="Text 3"/>
          <p:cNvSpPr/>
          <p:nvPr/>
        </p:nvSpPr>
        <p:spPr>
          <a:xfrm>
            <a:off x="64008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F0F5"/>
                </a:solidFill>
              </a:rPr>
              <a:t>🎓</a:t>
            </a:r>
            <a:endParaRPr lang="en-US" sz="3000" dirty="0"/>
          </a:p>
        </p:txBody>
      </p:sp>
      <p:sp>
        <p:nvSpPr>
          <p:cNvPr id="14" name="Text 4"/>
          <p:cNvSpPr/>
          <p:nvPr/>
        </p:nvSpPr>
        <p:spPr>
          <a:xfrm>
            <a:off x="1435608" y="24231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Readiness</a:t>
            </a:r>
            <a:endParaRPr lang="en-US" sz="1600" dirty="0"/>
          </a:p>
        </p:txBody>
      </p:sp>
      <p:sp>
        <p:nvSpPr>
          <p:cNvPr id="15" name="Text 5"/>
          <p:cNvSpPr/>
          <p:nvPr/>
        </p:nvSpPr>
        <p:spPr>
          <a:xfrm>
            <a:off x="640080" y="30175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AI skills command 40% higher starting salaries and are 3× more likely to be promoted within 2 years.</a:t>
            </a:r>
            <a:endParaRPr lang="en-US" sz="120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640" y="2148840"/>
            <a:ext cx="5486400" cy="2029968"/>
          </a:xfrm>
          <a:prstGeom prst="rect">
            <a:avLst/>
          </a:prstGeom>
          <a:ln/>
        </p:spPr>
      </p:pic>
      <p:sp>
        <p:nvSpPr>
          <p:cNvPr id="17" name="Text 6"/>
          <p:cNvSpPr/>
          <p:nvPr/>
        </p:nvSpPr>
        <p:spPr>
          <a:xfrm>
            <a:off x="649224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F0F5"/>
                </a:solidFill>
              </a:rPr>
              <a:t>🌍</a:t>
            </a:r>
            <a:endParaRPr lang="en-US" sz="3000" dirty="0"/>
          </a:p>
        </p:txBody>
      </p:sp>
      <p:sp>
        <p:nvSpPr>
          <p:cNvPr id="18" name="Text 7"/>
          <p:cNvSpPr/>
          <p:nvPr/>
        </p:nvSpPr>
        <p:spPr>
          <a:xfrm>
            <a:off x="7287768" y="24231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Competitiveness</a:t>
            </a:r>
            <a:endParaRPr lang="en-US" sz="1600" dirty="0"/>
          </a:p>
        </p:txBody>
      </p:sp>
      <p:sp>
        <p:nvSpPr>
          <p:cNvPr id="19" name="Text 8"/>
          <p:cNvSpPr/>
          <p:nvPr/>
        </p:nvSpPr>
        <p:spPr>
          <a:xfrm>
            <a:off x="6492240" y="30175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Nations investing in AI education outperform economically. India must prepare students for the global AI-driven workforce.</a:t>
            </a:r>
            <a:endParaRPr lang="en-US" sz="120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4480560"/>
            <a:ext cx="5486400" cy="2029968"/>
          </a:xfrm>
          <a:prstGeom prst="rect">
            <a:avLst/>
          </a:prstGeom>
          <a:ln/>
        </p:spPr>
      </p:pic>
      <p:sp>
        <p:nvSpPr>
          <p:cNvPr id="21" name="Text 9"/>
          <p:cNvSpPr/>
          <p:nvPr/>
        </p:nvSpPr>
        <p:spPr>
          <a:xfrm>
            <a:off x="640080" y="4754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F0F5"/>
                </a:solidFill>
              </a:rPr>
              <a:t>💡</a:t>
            </a:r>
            <a:endParaRPr lang="en-US" sz="3000" dirty="0"/>
          </a:p>
        </p:txBody>
      </p:sp>
      <p:sp>
        <p:nvSpPr>
          <p:cNvPr id="22" name="Text 10"/>
          <p:cNvSpPr/>
          <p:nvPr/>
        </p:nvSpPr>
        <p:spPr>
          <a:xfrm>
            <a:off x="1435608" y="4754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Mindset</a:t>
            </a:r>
            <a:endParaRPr lang="en-US" sz="1600" dirty="0"/>
          </a:p>
        </p:txBody>
      </p:sp>
      <p:sp>
        <p:nvSpPr>
          <p:cNvPr id="23" name="Text 11"/>
          <p:cNvSpPr/>
          <p:nvPr/>
        </p:nvSpPr>
        <p:spPr>
          <a:xfrm>
            <a:off x="640080" y="53492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AI exposure fosters problem-solving, creativity, and entrepreneurial skills that transcend any single career.</a:t>
            </a:r>
            <a:endParaRPr lang="en-US" sz="120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3640" y="4480560"/>
            <a:ext cx="5486400" cy="2029968"/>
          </a:xfrm>
          <a:prstGeom prst="rect">
            <a:avLst/>
          </a:prstGeom>
          <a:ln/>
        </p:spPr>
      </p:pic>
      <p:sp>
        <p:nvSpPr>
          <p:cNvPr id="25" name="Text 12"/>
          <p:cNvSpPr/>
          <p:nvPr/>
        </p:nvSpPr>
        <p:spPr>
          <a:xfrm>
            <a:off x="6492240" y="4754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F0F5"/>
                </a:solidFill>
              </a:rPr>
              <a:t>📈</a:t>
            </a:r>
            <a:endParaRPr lang="en-US" sz="3000" dirty="0"/>
          </a:p>
        </p:txBody>
      </p:sp>
      <p:sp>
        <p:nvSpPr>
          <p:cNvPr id="26" name="Text 13"/>
          <p:cNvSpPr/>
          <p:nvPr/>
        </p:nvSpPr>
        <p:spPr>
          <a:xfrm>
            <a:off x="7287768" y="4754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Demand</a:t>
            </a:r>
            <a:endParaRPr lang="en-US" sz="1600" dirty="0"/>
          </a:p>
        </p:txBody>
      </p:sp>
      <p:sp>
        <p:nvSpPr>
          <p:cNvPr id="27" name="Text 14"/>
          <p:cNvSpPr/>
          <p:nvPr/>
        </p:nvSpPr>
        <p:spPr>
          <a:xfrm>
            <a:off x="6492240" y="53492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 million AI-related job openings in India alone by 2027 — with only 20% of graduates ready to fill them.</a:t>
            </a:r>
            <a:endParaRPr lang="en-US" sz="1200" dirty="0"/>
          </a:p>
        </p:txBody>
      </p:sp>
      <p:pic>
        <p:nvPicPr>
          <p:cNvPr id="900" name="growth_chart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8760" y="6236208"/>
            <a:ext cx="11430000" cy="804672"/>
          </a:xfrm>
          <a:prstGeom prst="rect">
            <a:avLst/>
          </a:prstGeom>
          <a:ln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168FE13-8553-F78A-6F11-273483934E5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1208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71600" y="-1371600"/>
            <a:ext cx="5943600" cy="59436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2286000"/>
            <a:ext cx="5029200" cy="50292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0" y="4572000"/>
            <a:ext cx="1828800" cy="1828800"/>
          </a:xfrm>
          <a:prstGeom prst="rect">
            <a:avLst/>
          </a:prstGeom>
          <a:ln/>
        </p:spPr>
      </p:pic>
      <p:sp>
        <p:nvSpPr>
          <p:cNvPr id="7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1A35"/>
          </a:solidFill>
          <a:ln w="12700">
            <a:solidFill>
              <a:srgbClr val="252545"/>
            </a:solidFill>
            <a:prstDash val="solid"/>
          </a:ln>
        </p:spPr>
        <p:txBody>
          <a:bodyPr/>
          <a:p/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292608"/>
            <a:ext cx="2011680" cy="347472"/>
          </a:xfrm>
          <a:prstGeom prst="rect">
            <a:avLst/>
          </a:prstGeom>
          <a:ln/>
        </p:spPr>
      </p:pic>
      <p:sp>
        <p:nvSpPr>
          <p:cNvPr id="9" name="Text 1"/>
          <p:cNvSpPr/>
          <p:nvPr/>
        </p:nvSpPr>
        <p:spPr>
          <a:xfrm>
            <a:off x="594360" y="2926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0" name="Text 2"/>
          <p:cNvSpPr/>
          <p:nvPr/>
        </p:nvSpPr>
        <p:spPr>
          <a:xfrm>
            <a:off x="594360" y="804672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School Ready?</a:t>
            </a:r>
            <a:endParaRPr lang="en-US" sz="4000" dirty="0"/>
          </a:p>
        </p:txBody>
      </p:sp>
      <p:sp>
        <p:nvSpPr>
          <p:cNvPr id="11" name="Text 3"/>
          <p:cNvSpPr/>
          <p:nvPr/>
        </p:nvSpPr>
        <p:spPr>
          <a:xfrm>
            <a:off x="594360" y="1508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2030, every major industry will be AI-powered — and most institutions are unprepared.</a:t>
            </a:r>
            <a:endParaRPr lang="en-US" sz="13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1993392"/>
            <a:ext cx="2926080" cy="45720"/>
          </a:xfrm>
          <a:prstGeom prst="rect">
            <a:avLst/>
          </a:prstGeom>
          <a:ln/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2240280"/>
            <a:ext cx="2011680" cy="841248"/>
          </a:xfrm>
          <a:prstGeom prst="rect">
            <a:avLst/>
          </a:prstGeom>
          <a:ln/>
        </p:spPr>
      </p:pic>
      <p:sp>
        <p:nvSpPr>
          <p:cNvPr id="14" name="Text 4"/>
          <p:cNvSpPr/>
          <p:nvPr/>
        </p:nvSpPr>
        <p:spPr>
          <a:xfrm>
            <a:off x="685800" y="22860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600" dirty="0"/>
          </a:p>
        </p:txBody>
      </p:sp>
      <p:sp>
        <p:nvSpPr>
          <p:cNvPr id="15" name="Text 5"/>
          <p:cNvSpPr/>
          <p:nvPr/>
        </p:nvSpPr>
        <p:spPr>
          <a:xfrm>
            <a:off x="1426464" y="2286000"/>
            <a:ext cx="1179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industries will use AI &amp; automation by 2030</a:t>
            </a:r>
            <a:endParaRPr lang="en-US" sz="95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3429000"/>
            <a:ext cx="2011680" cy="841248"/>
          </a:xfrm>
          <a:prstGeom prst="rect">
            <a:avLst/>
          </a:prstGeom>
          <a:ln/>
        </p:spPr>
      </p:pic>
      <p:sp>
        <p:nvSpPr>
          <p:cNvPr id="17" name="Text 6"/>
          <p:cNvSpPr/>
          <p:nvPr/>
        </p:nvSpPr>
        <p:spPr>
          <a:xfrm>
            <a:off x="685800" y="34747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2600" dirty="0"/>
          </a:p>
        </p:txBody>
      </p:sp>
      <p:sp>
        <p:nvSpPr>
          <p:cNvPr id="18" name="Text 7"/>
          <p:cNvSpPr/>
          <p:nvPr/>
        </p:nvSpPr>
        <p:spPr>
          <a:xfrm>
            <a:off x="1275907" y="3474720"/>
            <a:ext cx="123869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productive: AI-augmented workers vs non-AI</a:t>
            </a:r>
            <a:endParaRPr lang="en-US" sz="95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4617720"/>
            <a:ext cx="2011680" cy="841248"/>
          </a:xfrm>
          <a:prstGeom prst="rect">
            <a:avLst/>
          </a:prstGeom>
          <a:ln/>
        </p:spPr>
      </p:pic>
      <p:sp>
        <p:nvSpPr>
          <p:cNvPr id="20" name="Text 8"/>
          <p:cNvSpPr/>
          <p:nvPr/>
        </p:nvSpPr>
        <p:spPr>
          <a:xfrm>
            <a:off x="685800" y="4663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21" name="Text 9"/>
          <p:cNvSpPr/>
          <p:nvPr/>
        </p:nvSpPr>
        <p:spPr>
          <a:xfrm>
            <a:off x="1367347" y="4693955"/>
            <a:ext cx="123869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manufacturing will be AI-powered within 5 years</a:t>
            </a:r>
            <a:endParaRPr lang="en-US" sz="95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16935" y="2207530"/>
            <a:ext cx="4632429" cy="2364469"/>
          </a:xfrm>
          <a:prstGeom prst="rect">
            <a:avLst/>
          </a:prstGeom>
          <a:ln/>
        </p:spPr>
      </p:pic>
      <p:sp>
        <p:nvSpPr>
          <p:cNvPr id="23" name="Text 10"/>
          <p:cNvSpPr/>
          <p:nvPr/>
        </p:nvSpPr>
        <p:spPr>
          <a:xfrm>
            <a:off x="3108960" y="233172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Educational Disconnect</a:t>
            </a:r>
            <a:endParaRPr lang="en-US" sz="1500" dirty="0"/>
          </a:p>
        </p:txBody>
      </p:sp>
      <p:sp>
        <p:nvSpPr>
          <p:cNvPr id="24" name="Shape 11"/>
          <p:cNvSpPr/>
          <p:nvPr/>
        </p:nvSpPr>
        <p:spPr>
          <a:xfrm>
            <a:off x="3108960" y="2990088"/>
            <a:ext cx="82296" cy="82296"/>
          </a:xfrm>
          <a:prstGeom prst="ellipse">
            <a:avLst/>
          </a:prstGeom>
          <a:solidFill>
            <a:srgbClr val="1A1A35"/>
          </a:solidFill>
          <a:ln w="12700">
            <a:solidFill>
              <a:srgbClr val="252545"/>
            </a:solidFill>
            <a:prstDash val="solid"/>
          </a:ln>
        </p:spPr>
        <p:txBody>
          <a:bodyPr/>
          <a:p/>
        </p:txBody>
      </p:sp>
      <p:sp>
        <p:nvSpPr>
          <p:cNvPr id="25" name="Text 12"/>
          <p:cNvSpPr/>
          <p:nvPr/>
        </p:nvSpPr>
        <p:spPr>
          <a:xfrm>
            <a:off x="3291840" y="289864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labs limited to theoretical exposure</a:t>
            </a:r>
            <a:endParaRPr lang="en-US" sz="1200" dirty="0"/>
          </a:p>
        </p:txBody>
      </p:sp>
      <p:sp>
        <p:nvSpPr>
          <p:cNvPr id="26" name="Shape 13"/>
          <p:cNvSpPr/>
          <p:nvPr/>
        </p:nvSpPr>
        <p:spPr>
          <a:xfrm>
            <a:off x="3108960" y="3429000"/>
            <a:ext cx="82296" cy="82296"/>
          </a:xfrm>
          <a:prstGeom prst="ellipse">
            <a:avLst/>
          </a:prstGeom>
          <a:solidFill>
            <a:srgbClr val="1A1A35"/>
          </a:solidFill>
          <a:ln w="12700">
            <a:solidFill>
              <a:srgbClr val="252545"/>
            </a:solidFill>
            <a:prstDash val="solid"/>
          </a:ln>
        </p:spPr>
        <p:txBody>
          <a:bodyPr/>
          <a:p/>
        </p:txBody>
      </p:sp>
      <p:sp>
        <p:nvSpPr>
          <p:cNvPr id="27" name="Text 14"/>
          <p:cNvSpPr/>
          <p:nvPr/>
        </p:nvSpPr>
        <p:spPr>
          <a:xfrm>
            <a:off x="3291840" y="333756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without industrial alignment</a:t>
            </a:r>
            <a:endParaRPr lang="en-US" sz="1200" dirty="0"/>
          </a:p>
        </p:txBody>
      </p:sp>
      <p:sp>
        <p:nvSpPr>
          <p:cNvPr id="28" name="Shape 15"/>
          <p:cNvSpPr/>
          <p:nvPr/>
        </p:nvSpPr>
        <p:spPr>
          <a:xfrm>
            <a:off x="3108960" y="3867912"/>
            <a:ext cx="82296" cy="82296"/>
          </a:xfrm>
          <a:prstGeom prst="ellipse">
            <a:avLst/>
          </a:prstGeom>
          <a:solidFill>
            <a:srgbClr val="1A1A35"/>
          </a:solidFill>
          <a:ln w="12700">
            <a:solidFill>
              <a:srgbClr val="252545"/>
            </a:solidFill>
            <a:prstDash val="solid"/>
          </a:ln>
        </p:spPr>
        <p:txBody>
          <a:bodyPr/>
          <a:p/>
        </p:txBody>
      </p:sp>
      <p:sp>
        <p:nvSpPr>
          <p:cNvPr id="29" name="Text 16"/>
          <p:cNvSpPr/>
          <p:nvPr/>
        </p:nvSpPr>
        <p:spPr>
          <a:xfrm>
            <a:off x="3291840" y="37764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disconnected from real-world application</a:t>
            </a:r>
            <a:endParaRPr lang="en-US" sz="1200" dirty="0"/>
          </a:p>
        </p:txBody>
      </p:sp>
      <p:sp>
        <p:nvSpPr>
          <p:cNvPr id="30" name="Shape 17"/>
          <p:cNvSpPr/>
          <p:nvPr/>
        </p:nvSpPr>
        <p:spPr>
          <a:xfrm>
            <a:off x="3108960" y="4306824"/>
            <a:ext cx="82296" cy="82296"/>
          </a:xfrm>
          <a:prstGeom prst="ellipse">
            <a:avLst/>
          </a:prstGeom>
          <a:solidFill>
            <a:srgbClr val="1A1A35"/>
          </a:solidFill>
          <a:ln w="12700">
            <a:solidFill>
              <a:srgbClr val="252545"/>
            </a:solidFill>
            <a:prstDash val="solid"/>
          </a:ln>
        </p:spPr>
        <p:txBody>
          <a:bodyPr/>
          <a:p/>
        </p:txBody>
      </p:sp>
      <p:sp>
        <p:nvSpPr>
          <p:cNvPr id="31" name="Text 18"/>
          <p:cNvSpPr/>
          <p:nvPr/>
        </p:nvSpPr>
        <p:spPr>
          <a:xfrm>
            <a:off x="3291840" y="421538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AI competency roadmap</a:t>
            </a:r>
            <a:endParaRPr lang="en-US" sz="12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9519" y="2148839"/>
            <a:ext cx="4193929" cy="2423159"/>
          </a:xfrm>
          <a:prstGeom prst="rect">
            <a:avLst/>
          </a:prstGeom>
          <a:ln/>
        </p:spPr>
      </p:pic>
      <p:sp>
        <p:nvSpPr>
          <p:cNvPr id="33" name="Text 19"/>
          <p:cNvSpPr/>
          <p:nvPr/>
        </p:nvSpPr>
        <p:spPr>
          <a:xfrm>
            <a:off x="7772400" y="235915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Institutional Risk</a:t>
            </a:r>
            <a:endParaRPr lang="en-US" sz="1400" dirty="0"/>
          </a:p>
        </p:txBody>
      </p:sp>
      <p:sp>
        <p:nvSpPr>
          <p:cNvPr id="34" name="Text 20"/>
          <p:cNvSpPr/>
          <p:nvPr/>
        </p:nvSpPr>
        <p:spPr>
          <a:xfrm>
            <a:off x="7772400" y="288036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is no longer an optional enhancement. It is the defining institutional differentiator of 2025 and beyond. Schools not acting now will lose both talent and competitive edge.</a:t>
            </a:r>
            <a:endParaRPr lang="en-US" sz="115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5567207"/>
            <a:ext cx="11430000" cy="804672"/>
          </a:xfrm>
          <a:prstGeom prst="rect">
            <a:avLst/>
          </a:prstGeom>
          <a:ln/>
        </p:spPr>
      </p:pic>
      <p:sp>
        <p:nvSpPr>
          <p:cNvPr id="36" name="Text 21"/>
          <p:cNvSpPr/>
          <p:nvPr/>
        </p:nvSpPr>
        <p:spPr>
          <a:xfrm>
            <a:off x="489736" y="5584432"/>
            <a:ext cx="111556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There is a widening gap between  What Industry Requires  and  What Schools Currently Deliver</a:t>
            </a:r>
            <a:endParaRPr lang="en-US" sz="1400" dirty="0"/>
          </a:p>
        </p:txBody>
      </p:sp>
      <p:pic>
        <p:nvPicPr>
          <p:cNvPr id="900" name="stats_bar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5456" y="6236208"/>
            <a:ext cx="11247120" cy="777240"/>
          </a:xfrm>
          <a:prstGeom prst="rect">
            <a:avLst/>
          </a:prstGeom>
          <a:ln/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A6D9B69-B5DC-34B4-A4C8-4416242FCB7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4400" y="2743200"/>
            <a:ext cx="4572000" cy="45720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-1371600"/>
            <a:ext cx="5029200" cy="50292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657600"/>
            <a:ext cx="2743200" cy="2743200"/>
          </a:xfrm>
          <a:prstGeom prst="rect">
            <a:avLst/>
          </a:prstGeom>
          <a:ln/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-457200"/>
            <a:ext cx="2560320" cy="2560320"/>
          </a:xfrm>
          <a:prstGeom prst="rect">
            <a:avLst/>
          </a:prstGeom>
          <a:ln/>
        </p:spPr>
      </p:pic>
      <p:sp>
        <p:nvSpPr>
          <p:cNvPr id="8" name="Text 0"/>
          <p:cNvSpPr/>
          <p:nvPr/>
        </p:nvSpPr>
        <p:spPr>
          <a:xfrm>
            <a:off x="0" y="137160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5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1920240"/>
            <a:ext cx="10881360" cy="1170432"/>
          </a:xfrm>
          <a:prstGeom prst="rect">
            <a:avLst/>
          </a:prstGeom>
          <a:ln/>
        </p:spPr>
      </p:pic>
      <p:sp>
        <p:nvSpPr>
          <p:cNvPr id="10" name="Text 1"/>
          <p:cNvSpPr/>
          <p:nvPr/>
        </p:nvSpPr>
        <p:spPr>
          <a:xfrm>
            <a:off x="0" y="315468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Grades 6 – 12</a:t>
            </a:r>
            <a:endParaRPr lang="en-US" sz="2600" dirty="0"/>
          </a:p>
        </p:txBody>
      </p:sp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1960" y="3749040"/>
            <a:ext cx="3657600" cy="201168"/>
          </a:xfrm>
          <a:prstGeom prst="rect">
            <a:avLst/>
          </a:prstGeom>
          <a:ln/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0" y="4114800"/>
            <a:ext cx="2834640" cy="566928"/>
          </a:xfrm>
          <a:prstGeom prst="rect">
            <a:avLst/>
          </a:prstGeom>
          <a:ln/>
        </p:spPr>
      </p:pic>
      <p:sp>
        <p:nvSpPr>
          <p:cNvPr id="13" name="Text 2"/>
          <p:cNvSpPr/>
          <p:nvPr/>
        </p:nvSpPr>
        <p:spPr>
          <a:xfrm>
            <a:off x="1097280" y="41148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Industry-Grade Tools</a:t>
            </a:r>
            <a:endParaRPr lang="en-US" sz="1300" dirty="0"/>
          </a:p>
        </p:txBody>
      </p:sp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4840" y="4114800"/>
            <a:ext cx="2834640" cy="566928"/>
          </a:xfrm>
          <a:prstGeom prst="rect">
            <a:avLst/>
          </a:prstGeom>
          <a:ln/>
        </p:spPr>
      </p:pic>
      <p:sp>
        <p:nvSpPr>
          <p:cNvPr id="15" name="Text 3"/>
          <p:cNvSpPr/>
          <p:nvPr/>
        </p:nvSpPr>
        <p:spPr>
          <a:xfrm>
            <a:off x="4434840" y="41148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Instructors</a:t>
            </a:r>
            <a:endParaRPr lang="en-US" sz="1300" dirty="0"/>
          </a:p>
        </p:txBody>
      </p:sp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0" y="4114800"/>
            <a:ext cx="2834640" cy="566928"/>
          </a:xfrm>
          <a:prstGeom prst="rect">
            <a:avLst/>
          </a:prstGeom>
          <a:ln/>
        </p:spPr>
      </p:pic>
      <p:sp>
        <p:nvSpPr>
          <p:cNvPr id="17" name="Text 4"/>
          <p:cNvSpPr/>
          <p:nvPr/>
        </p:nvSpPr>
        <p:spPr>
          <a:xfrm>
            <a:off x="7772400" y="41148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 Experience</a:t>
            </a:r>
            <a:endParaRPr lang="en-US" sz="1300" dirty="0"/>
          </a:p>
        </p:txBody>
      </p:sp>
      <p:sp>
        <p:nvSpPr>
          <p:cNvPr id="18" name="Text 5"/>
          <p:cNvSpPr/>
          <p:nvPr/>
        </p:nvSpPr>
        <p:spPr>
          <a:xfrm>
            <a:off x="0" y="6217920"/>
            <a:ext cx="1216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nextaiQ-edu Smart AI Lab  ·  nextaiq.in/edu</a:t>
            </a:r>
            <a:endParaRPr lang="en-US" sz="1000" dirty="0"/>
          </a:p>
        </p:txBody>
      </p:sp>
      <p:pic>
        <p:nvPicPr>
          <p:cNvPr id="900" name="students_lab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722876"/>
            <a:ext cx="10972800" cy="1783080"/>
          </a:xfrm>
          <a:prstGeom prst="rect">
            <a:avLst/>
          </a:prstGeom>
          <a:ln/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359539-C751-9D14-9380-083B86FD0C7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-1828800"/>
            <a:ext cx="5029200" cy="50292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14400" y="3200400"/>
            <a:ext cx="3657600" cy="36576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914400"/>
            <a:ext cx="2286000" cy="2286000"/>
          </a:xfrm>
          <a:prstGeom prst="rect">
            <a:avLst/>
          </a:prstGeom>
          <a:ln/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  <a:ln/>
        </p:spPr>
      </p:pic>
      <p:sp>
        <p:nvSpPr>
          <p:cNvPr id="8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 nextaiQ-edu Smart AI Lab</a:t>
            </a:r>
            <a:endParaRPr lang="en-US" sz="3600" dirty="0"/>
          </a:p>
        </p:txBody>
      </p:sp>
      <p:sp>
        <p:nvSpPr>
          <p:cNvPr id="10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hands-on Industrial AI exposure program designed for Grades 6–12</a:t>
            </a:r>
            <a:endParaRPr lang="en-US" sz="13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2377440"/>
            <a:ext cx="6217920" cy="1051560"/>
          </a:xfrm>
          <a:prstGeom prst="rect">
            <a:avLst/>
          </a:prstGeom>
          <a:ln/>
        </p:spPr>
      </p:pic>
      <p:sp>
        <p:nvSpPr>
          <p:cNvPr id="13" name="Text 3"/>
          <p:cNvSpPr/>
          <p:nvPr/>
        </p:nvSpPr>
        <p:spPr>
          <a:xfrm>
            <a:off x="685800" y="2468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000" dirty="0"/>
          </a:p>
        </p:txBody>
      </p:sp>
      <p:sp>
        <p:nvSpPr>
          <p:cNvPr id="14" name="Text 4"/>
          <p:cNvSpPr/>
          <p:nvPr/>
        </p:nvSpPr>
        <p:spPr>
          <a:xfrm>
            <a:off x="685800" y="28346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the gap between academic knowledge and industrial AI — bringing real-world tools, frameworks, and mentorship directly into the classroom.</a:t>
            </a:r>
            <a:endParaRPr lang="en-US" sz="120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" y="3657600"/>
            <a:ext cx="2926080" cy="566928"/>
          </a:xfrm>
          <a:prstGeom prst="rect">
            <a:avLst/>
          </a:prstGeom>
          <a:ln/>
        </p:spPr>
      </p:pic>
      <p:sp>
        <p:nvSpPr>
          <p:cNvPr id="16" name="Text 5"/>
          <p:cNvSpPr/>
          <p:nvPr/>
        </p:nvSpPr>
        <p:spPr>
          <a:xfrm>
            <a:off x="502920" y="365760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Hands-On AI Solution</a:t>
            </a:r>
            <a:endParaRPr lang="en-US" sz="130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49040" y="3657600"/>
            <a:ext cx="2926080" cy="566928"/>
          </a:xfrm>
          <a:prstGeom prst="rect">
            <a:avLst/>
          </a:prstGeom>
          <a:ln/>
        </p:spPr>
      </p:pic>
      <p:sp>
        <p:nvSpPr>
          <p:cNvPr id="18" name="Text 6"/>
          <p:cNvSpPr/>
          <p:nvPr/>
        </p:nvSpPr>
        <p:spPr>
          <a:xfrm>
            <a:off x="3749040" y="365760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Industry-Grade Tools and Exposer</a:t>
            </a:r>
            <a:endParaRPr lang="en-US" sz="130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" y="4370832"/>
            <a:ext cx="2926080" cy="566928"/>
          </a:xfrm>
          <a:prstGeom prst="rect">
            <a:avLst/>
          </a:prstGeom>
          <a:ln/>
        </p:spPr>
      </p:pic>
      <p:sp>
        <p:nvSpPr>
          <p:cNvPr id="20" name="Text 7"/>
          <p:cNvSpPr/>
          <p:nvPr/>
        </p:nvSpPr>
        <p:spPr>
          <a:xfrm>
            <a:off x="502920" y="43708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AI Instructors</a:t>
            </a:r>
            <a:endParaRPr lang="en-US" sz="1300" dirty="0"/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9040" y="4370832"/>
            <a:ext cx="2926080" cy="566928"/>
          </a:xfrm>
          <a:prstGeom prst="rect">
            <a:avLst/>
          </a:prstGeom>
          <a:ln/>
        </p:spPr>
      </p:pic>
      <p:sp>
        <p:nvSpPr>
          <p:cNvPr id="22" name="Text 8"/>
          <p:cNvSpPr/>
          <p:nvPr/>
        </p:nvSpPr>
        <p:spPr>
          <a:xfrm>
            <a:off x="3749040" y="43708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Live Project Experience</a:t>
            </a:r>
            <a:endParaRPr lang="en-US" sz="1300" dirty="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0" y="2057400"/>
            <a:ext cx="4389120" cy="4434840"/>
          </a:xfrm>
          <a:prstGeom prst="rect">
            <a:avLst/>
          </a:prstGeom>
          <a:ln/>
        </p:spPr>
      </p:pic>
      <p:sp>
        <p:nvSpPr>
          <p:cNvPr id="24" name="Text 9"/>
          <p:cNvSpPr/>
          <p:nvPr/>
        </p:nvSpPr>
        <p:spPr>
          <a:xfrm>
            <a:off x="8686800" y="25603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0" dirty="0">
                <a:solidFill>
                  <a:srgbClr val="F0F0F5"/>
                </a:solidFill>
              </a:rPr>
              <a:t>🎓</a:t>
            </a:r>
            <a:endParaRPr lang="en-US" sz="5500" dirty="0"/>
          </a:p>
        </p:txBody>
      </p:sp>
      <p:sp>
        <p:nvSpPr>
          <p:cNvPr id="25" name="Text 10"/>
          <p:cNvSpPr/>
          <p:nvPr/>
        </p:nvSpPr>
        <p:spPr>
          <a:xfrm>
            <a:off x="7498080" y="36118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6–12</a:t>
            </a:r>
            <a:endParaRPr lang="en-US" sz="2000" dirty="0"/>
          </a:p>
        </p:txBody>
      </p:sp>
      <p:sp>
        <p:nvSpPr>
          <p:cNvPr id="26" name="Text 11"/>
          <p:cNvSpPr/>
          <p:nvPr/>
        </p:nvSpPr>
        <p:spPr>
          <a:xfrm>
            <a:off x="7498080" y="4206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240+ Hours of Learning</a:t>
            </a:r>
            <a:endParaRPr lang="en-US" sz="1400" dirty="0"/>
          </a:p>
        </p:txBody>
      </p:sp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0" y="4709160"/>
            <a:ext cx="2560320" cy="164592"/>
          </a:xfrm>
          <a:prstGeom prst="rect">
            <a:avLst/>
          </a:prstGeom>
          <a:ln/>
        </p:spPr>
      </p:pic>
      <p:sp>
        <p:nvSpPr>
          <p:cNvPr id="28" name="Text 12"/>
          <p:cNvSpPr/>
          <p:nvPr/>
        </p:nvSpPr>
        <p:spPr>
          <a:xfrm>
            <a:off x="7498080" y="49377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Industry-Aligned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4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B2DA8FF-7FDB-A8CD-0670-7F1A0CE1F52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71600" y="-1371600"/>
            <a:ext cx="5943600" cy="59436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2286000"/>
            <a:ext cx="5029200" cy="50292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292608"/>
            <a:ext cx="1043054" cy="347472"/>
          </a:xfrm>
          <a:prstGeom prst="rect">
            <a:avLst/>
          </a:prstGeom>
          <a:ln/>
        </p:spPr>
      </p:pic>
      <p:sp>
        <p:nvSpPr>
          <p:cNvPr id="7" name="Text 0"/>
          <p:cNvSpPr/>
          <p:nvPr/>
        </p:nvSpPr>
        <p:spPr>
          <a:xfrm>
            <a:off x="594360" y="292608"/>
            <a:ext cx="104305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100" dirty="0"/>
          </a:p>
        </p:txBody>
      </p:sp>
      <p:sp>
        <p:nvSpPr>
          <p:cNvPr id="8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Institutional AI Ecosystem</a:t>
            </a:r>
            <a:endParaRPr lang="en-US" sz="3600" dirty="0"/>
          </a:p>
        </p:txBody>
      </p:sp>
      <p:sp>
        <p:nvSpPr>
          <p:cNvPr id="9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NextAIQ Edu is not a workshop program — it is a comprehensive AI integration framework for schools.</a:t>
            </a:r>
            <a:endParaRPr lang="en-US" sz="13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" y="2194560"/>
            <a:ext cx="2761488" cy="1993392"/>
          </a:xfrm>
          <a:prstGeom prst="rect">
            <a:avLst/>
          </a:prstGeom>
          <a:ln/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395728"/>
            <a:ext cx="502920" cy="502920"/>
          </a:xfrm>
          <a:prstGeom prst="rect">
            <a:avLst/>
          </a:prstGeom>
          <a:ln/>
        </p:spPr>
      </p:pic>
      <p:sp>
        <p:nvSpPr>
          <p:cNvPr id="13" name="Text 3"/>
          <p:cNvSpPr/>
          <p:nvPr/>
        </p:nvSpPr>
        <p:spPr>
          <a:xfrm>
            <a:off x="512064" y="303580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Leadership Seminars</a:t>
            </a:r>
            <a:endParaRPr lang="en-US" sz="1300" dirty="0"/>
          </a:p>
        </p:txBody>
      </p:sp>
      <p:sp>
        <p:nvSpPr>
          <p:cNvPr id="14" name="Text 4"/>
          <p:cNvSpPr/>
          <p:nvPr/>
        </p:nvSpPr>
        <p:spPr>
          <a:xfrm>
            <a:off x="512064" y="3703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sessions/month</a:t>
            </a:r>
            <a:endParaRPr lang="en-US" sz="110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00984" y="2194560"/>
            <a:ext cx="2761488" cy="1993392"/>
          </a:xfrm>
          <a:prstGeom prst="rect">
            <a:avLst/>
          </a:prstGeom>
          <a:ln/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2152" y="2395728"/>
            <a:ext cx="502920" cy="502920"/>
          </a:xfrm>
          <a:prstGeom prst="rect">
            <a:avLst/>
          </a:prstGeom>
          <a:ln/>
        </p:spPr>
      </p:pic>
      <p:sp>
        <p:nvSpPr>
          <p:cNvPr id="17" name="Text 5"/>
          <p:cNvSpPr/>
          <p:nvPr/>
        </p:nvSpPr>
        <p:spPr>
          <a:xfrm>
            <a:off x="3465576" y="303580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Exposure Visits</a:t>
            </a:r>
            <a:endParaRPr lang="en-US" sz="1300" dirty="0"/>
          </a:p>
        </p:txBody>
      </p:sp>
      <p:sp>
        <p:nvSpPr>
          <p:cNvPr id="18" name="Text 6"/>
          <p:cNvSpPr/>
          <p:nvPr/>
        </p:nvSpPr>
        <p:spPr>
          <a:xfrm>
            <a:off x="3465576" y="3703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structured visit/month</a:t>
            </a:r>
            <a:endParaRPr lang="en-US" sz="110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54496" y="2194560"/>
            <a:ext cx="2761488" cy="1993392"/>
          </a:xfrm>
          <a:prstGeom prst="rect">
            <a:avLst/>
          </a:prstGeom>
          <a:ln/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55664" y="2395728"/>
            <a:ext cx="502920" cy="502920"/>
          </a:xfrm>
          <a:prstGeom prst="rect">
            <a:avLst/>
          </a:prstGeom>
          <a:ln/>
        </p:spPr>
      </p:pic>
      <p:sp>
        <p:nvSpPr>
          <p:cNvPr id="21" name="Text 7"/>
          <p:cNvSpPr/>
          <p:nvPr/>
        </p:nvSpPr>
        <p:spPr>
          <a:xfrm>
            <a:off x="6419088" y="303580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Club Formation</a:t>
            </a:r>
            <a:endParaRPr lang="en-US" sz="1300" dirty="0"/>
          </a:p>
        </p:txBody>
      </p:sp>
      <p:sp>
        <p:nvSpPr>
          <p:cNvPr id="22" name="Text 8"/>
          <p:cNvSpPr/>
          <p:nvPr/>
        </p:nvSpPr>
        <p:spPr>
          <a:xfrm>
            <a:off x="6419088" y="3703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Peer-led innovation culture</a:t>
            </a:r>
            <a:endParaRPr lang="en-US" sz="1100" dirty="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08008" y="2194560"/>
            <a:ext cx="2761488" cy="1993392"/>
          </a:xfrm>
          <a:prstGeom prst="rect">
            <a:avLst/>
          </a:prstGeom>
          <a:ln/>
        </p:spPr>
      </p:pic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09176" y="2395728"/>
            <a:ext cx="502920" cy="502920"/>
          </a:xfrm>
          <a:prstGeom prst="rect">
            <a:avLst/>
          </a:prstGeom>
          <a:ln/>
        </p:spPr>
      </p:pic>
      <p:sp>
        <p:nvSpPr>
          <p:cNvPr id="25" name="Text 9"/>
          <p:cNvSpPr/>
          <p:nvPr/>
        </p:nvSpPr>
        <p:spPr>
          <a:xfrm>
            <a:off x="9372600" y="303580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Campus Ecosystem</a:t>
            </a:r>
            <a:endParaRPr lang="en-US" sz="1300" dirty="0"/>
          </a:p>
        </p:txBody>
      </p:sp>
      <p:sp>
        <p:nvSpPr>
          <p:cNvPr id="26" name="Text 10"/>
          <p:cNvSpPr/>
          <p:nvPr/>
        </p:nvSpPr>
        <p:spPr>
          <a:xfrm>
            <a:off x="9372600" y="3703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lab infrastructure</a:t>
            </a:r>
            <a:endParaRPr lang="en-US" sz="1100" dirty="0"/>
          </a:p>
        </p:txBody>
      </p:sp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7472" y="4343400"/>
            <a:ext cx="2761488" cy="1993392"/>
          </a:xfrm>
          <a:prstGeom prst="rect">
            <a:avLst/>
          </a:prstGeom>
          <a:ln/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8640" y="4544568"/>
            <a:ext cx="502920" cy="502920"/>
          </a:xfrm>
          <a:prstGeom prst="rect">
            <a:avLst/>
          </a:prstGeom>
          <a:ln/>
        </p:spPr>
      </p:pic>
      <p:sp>
        <p:nvSpPr>
          <p:cNvPr id="29" name="Text 11"/>
          <p:cNvSpPr/>
          <p:nvPr/>
        </p:nvSpPr>
        <p:spPr>
          <a:xfrm>
            <a:off x="512064" y="51846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Engagement Activities</a:t>
            </a:r>
            <a:endParaRPr lang="en-US" sz="1300" dirty="0"/>
          </a:p>
        </p:txBody>
      </p:sp>
      <p:sp>
        <p:nvSpPr>
          <p:cNvPr id="30" name="Text 12"/>
          <p:cNvSpPr/>
          <p:nvPr/>
        </p:nvSpPr>
        <p:spPr>
          <a:xfrm>
            <a:off x="512064" y="58521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quizzes &amp; challenges</a:t>
            </a:r>
            <a:endParaRPr lang="en-US" sz="1100" dirty="0"/>
          </a:p>
        </p:txBody>
      </p:sp>
      <p:pic>
        <p:nvPicPr>
          <p:cNvPr id="31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00984" y="4343400"/>
            <a:ext cx="2761488" cy="1993392"/>
          </a:xfrm>
          <a:prstGeom prst="rect">
            <a:avLst/>
          </a:prstGeom>
          <a:ln/>
        </p:spPr>
      </p:pic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02152" y="4544568"/>
            <a:ext cx="502920" cy="502920"/>
          </a:xfrm>
          <a:prstGeom prst="rect">
            <a:avLst/>
          </a:prstGeom>
          <a:ln/>
        </p:spPr>
      </p:pic>
      <p:sp>
        <p:nvSpPr>
          <p:cNvPr id="33" name="Text 13"/>
          <p:cNvSpPr/>
          <p:nvPr/>
        </p:nvSpPr>
        <p:spPr>
          <a:xfrm>
            <a:off x="3465576" y="51846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Intra-School Hackathons</a:t>
            </a:r>
            <a:endParaRPr lang="en-US" sz="1300" dirty="0"/>
          </a:p>
        </p:txBody>
      </p:sp>
      <p:sp>
        <p:nvSpPr>
          <p:cNvPr id="34" name="Text 14"/>
          <p:cNvSpPr/>
          <p:nvPr/>
        </p:nvSpPr>
        <p:spPr>
          <a:xfrm>
            <a:off x="3465576" y="58521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campus hackathons/year</a:t>
            </a:r>
            <a:endParaRPr lang="en-US" sz="1100" dirty="0"/>
          </a:p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54496" y="4343400"/>
            <a:ext cx="2761488" cy="1993392"/>
          </a:xfrm>
          <a:prstGeom prst="rect">
            <a:avLst/>
          </a:prstGeom>
          <a:ln/>
        </p:spPr>
      </p:pic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55664" y="4544568"/>
            <a:ext cx="502920" cy="502920"/>
          </a:xfrm>
          <a:prstGeom prst="rect">
            <a:avLst/>
          </a:prstGeom>
          <a:ln/>
        </p:spPr>
      </p:pic>
      <p:sp>
        <p:nvSpPr>
          <p:cNvPr id="37" name="Text 15"/>
          <p:cNvSpPr/>
          <p:nvPr/>
        </p:nvSpPr>
        <p:spPr>
          <a:xfrm>
            <a:off x="6419088" y="51846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Inter-School Hackathon</a:t>
            </a:r>
            <a:endParaRPr lang="en-US" sz="1300" dirty="0"/>
          </a:p>
        </p:txBody>
      </p:sp>
      <p:sp>
        <p:nvSpPr>
          <p:cNvPr id="38" name="Text 16"/>
          <p:cNvSpPr/>
          <p:nvPr/>
        </p:nvSpPr>
        <p:spPr>
          <a:xfrm>
            <a:off x="6419088" y="58521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multi-institution</a:t>
            </a:r>
            <a:endParaRPr lang="en-US" sz="1100" dirty="0"/>
          </a:p>
        </p:txBody>
      </p:sp>
      <p:pic>
        <p:nvPicPr>
          <p:cNvPr id="39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8008" y="4343400"/>
            <a:ext cx="2761488" cy="1993392"/>
          </a:xfrm>
          <a:prstGeom prst="rect">
            <a:avLst/>
          </a:prstGeom>
          <a:ln/>
        </p:spPr>
      </p:pic>
      <p:pic>
        <p:nvPicPr>
          <p:cNvPr id="40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09176" y="4544568"/>
            <a:ext cx="502920" cy="502920"/>
          </a:xfrm>
          <a:prstGeom prst="rect">
            <a:avLst/>
          </a:prstGeom>
          <a:ln/>
        </p:spPr>
      </p:pic>
      <p:sp>
        <p:nvSpPr>
          <p:cNvPr id="41" name="Text 17"/>
          <p:cNvSpPr/>
          <p:nvPr/>
        </p:nvSpPr>
        <p:spPr>
          <a:xfrm>
            <a:off x="9372600" y="51846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Theory Classes</a:t>
            </a:r>
            <a:endParaRPr lang="en-US" sz="1300" dirty="0"/>
          </a:p>
        </p:txBody>
      </p:sp>
      <p:sp>
        <p:nvSpPr>
          <p:cNvPr id="42" name="Text 18"/>
          <p:cNvSpPr/>
          <p:nvPr/>
        </p:nvSpPr>
        <p:spPr>
          <a:xfrm>
            <a:off x="9372600" y="58521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CBSE-aligned curriculum</a:t>
            </a:r>
            <a:endParaRPr lang="en-US" sz="11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8AD995C-9217-9CDD-D473-A9C7DCFA91B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4400" y="2743200"/>
            <a:ext cx="4572000" cy="45720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-1371600"/>
            <a:ext cx="5029200" cy="50292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0" y="274320"/>
            <a:ext cx="1645920" cy="1645920"/>
          </a:xfrm>
          <a:prstGeom prst="rect">
            <a:avLst/>
          </a:prstGeom>
          <a:ln/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  <a:ln/>
        </p:spPr>
      </p:pic>
      <p:sp>
        <p:nvSpPr>
          <p:cNvPr id="8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9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Engagement &amp; Exposure</a:t>
            </a:r>
            <a:endParaRPr lang="en-US" sz="3600" dirty="0"/>
          </a:p>
        </p:txBody>
      </p:sp>
      <p:sp>
        <p:nvSpPr>
          <p:cNvPr id="10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learning bridges academic theory with industrial intelligence</a:t>
            </a:r>
            <a:endParaRPr lang="en-US" sz="13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048" y="1874520"/>
            <a:ext cx="5596128" cy="4526280"/>
          </a:xfrm>
          <a:prstGeom prst="rect">
            <a:avLst/>
          </a:prstGeom>
          <a:ln/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5216" y="2057400"/>
            <a:ext cx="1737360" cy="384048"/>
          </a:xfrm>
          <a:prstGeom prst="rect">
            <a:avLst/>
          </a:prstGeom>
          <a:ln/>
        </p:spPr>
      </p:pic>
      <p:sp>
        <p:nvSpPr>
          <p:cNvPr id="14" name="Text 3"/>
          <p:cNvSpPr/>
          <p:nvPr/>
        </p:nvSpPr>
        <p:spPr>
          <a:xfrm>
            <a:off x="585216" y="20574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MONTHLY</a:t>
            </a:r>
            <a:endParaRPr lang="en-US" sz="1000" dirty="0"/>
          </a:p>
        </p:txBody>
      </p:sp>
      <p:sp>
        <p:nvSpPr>
          <p:cNvPr id="15" name="Text 4"/>
          <p:cNvSpPr/>
          <p:nvPr/>
        </p:nvSpPr>
        <p:spPr>
          <a:xfrm>
            <a:off x="585216" y="254203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Leadership Seminars</a:t>
            </a:r>
            <a:endParaRPr lang="en-US" sz="180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216" y="3127248"/>
            <a:ext cx="1828800" cy="36576"/>
          </a:xfrm>
          <a:prstGeom prst="rect">
            <a:avLst/>
          </a:prstGeom>
          <a:ln/>
        </p:spPr>
      </p:pic>
      <p:sp>
        <p:nvSpPr>
          <p:cNvPr id="17" name="Shape 5"/>
          <p:cNvSpPr/>
          <p:nvPr/>
        </p:nvSpPr>
        <p:spPr>
          <a:xfrm>
            <a:off x="612648" y="3401568"/>
            <a:ext cx="82296" cy="82296"/>
          </a:xfrm>
          <a:prstGeom prst="ellipse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  <p:txBody>
          <a:bodyPr/>
          <a:p/>
        </p:txBody>
      </p:sp>
      <p:sp>
        <p:nvSpPr>
          <p:cNvPr id="18" name="Text 6"/>
          <p:cNvSpPr/>
          <p:nvPr/>
        </p:nvSpPr>
        <p:spPr>
          <a:xfrm>
            <a:off x="786384" y="32918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Researchers – Leading scientists &amp; academics</a:t>
            </a:r>
            <a:endParaRPr lang="en-US" sz="1200" dirty="0"/>
          </a:p>
        </p:txBody>
      </p:sp>
      <p:sp>
        <p:nvSpPr>
          <p:cNvPr id="19" name="Shape 7"/>
          <p:cNvSpPr/>
          <p:nvPr/>
        </p:nvSpPr>
        <p:spPr>
          <a:xfrm>
            <a:off x="612648" y="3931920"/>
            <a:ext cx="82296" cy="82296"/>
          </a:xfrm>
          <a:prstGeom prst="ellipse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  <p:txBody>
          <a:bodyPr/>
          <a:p/>
        </p:txBody>
      </p:sp>
      <p:sp>
        <p:nvSpPr>
          <p:cNvPr id="20" name="Text 8"/>
          <p:cNvSpPr/>
          <p:nvPr/>
        </p:nvSpPr>
        <p:spPr>
          <a:xfrm>
            <a:off x="786384" y="382219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Leaders – CEOs from top AI companies</a:t>
            </a:r>
            <a:endParaRPr lang="en-US" sz="1200" dirty="0"/>
          </a:p>
        </p:txBody>
      </p:sp>
      <p:sp>
        <p:nvSpPr>
          <p:cNvPr id="21" name="Shape 9"/>
          <p:cNvSpPr/>
          <p:nvPr/>
        </p:nvSpPr>
        <p:spPr>
          <a:xfrm>
            <a:off x="612648" y="4462272"/>
            <a:ext cx="82296" cy="82296"/>
          </a:xfrm>
          <a:prstGeom prst="ellipse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  <p:txBody>
          <a:bodyPr/>
          <a:p/>
        </p:txBody>
      </p:sp>
      <p:sp>
        <p:nvSpPr>
          <p:cNvPr id="22" name="Text 10"/>
          <p:cNvSpPr/>
          <p:nvPr/>
        </p:nvSpPr>
        <p:spPr>
          <a:xfrm>
            <a:off x="786384" y="435254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Founders – Real-world problem solvers</a:t>
            </a:r>
            <a:endParaRPr lang="en-US" sz="1200" dirty="0"/>
          </a:p>
        </p:txBody>
      </p:sp>
      <p:sp>
        <p:nvSpPr>
          <p:cNvPr id="23" name="Shape 11"/>
          <p:cNvSpPr/>
          <p:nvPr/>
        </p:nvSpPr>
        <p:spPr>
          <a:xfrm>
            <a:off x="612648" y="4992624"/>
            <a:ext cx="82296" cy="82296"/>
          </a:xfrm>
          <a:prstGeom prst="ellipse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  <p:txBody>
          <a:bodyPr/>
          <a:p/>
        </p:txBody>
      </p:sp>
      <p:sp>
        <p:nvSpPr>
          <p:cNvPr id="24" name="Text 12"/>
          <p:cNvSpPr/>
          <p:nvPr/>
        </p:nvSpPr>
        <p:spPr>
          <a:xfrm>
            <a:off x="786384" y="488289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CEOs &amp; Innovators – Live industrial challenge sessions</a:t>
            </a:r>
            <a:endParaRPr lang="en-US" sz="1200" dirty="0"/>
          </a:p>
        </p:txBody>
      </p:sp>
      <p:sp>
        <p:nvSpPr>
          <p:cNvPr id="25" name="Text 13"/>
          <p:cNvSpPr/>
          <p:nvPr/>
        </p:nvSpPr>
        <p:spPr>
          <a:xfrm>
            <a:off x="585216" y="5440680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"Real exposure builds the bridge between academic theory and industrial intelligence."</a:t>
            </a:r>
            <a:endParaRPr lang="en-US" sz="11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1928" y="1874520"/>
            <a:ext cx="5596128" cy="4526280"/>
          </a:xfrm>
          <a:prstGeom prst="rect">
            <a:avLst/>
          </a:prstGeom>
          <a:ln/>
        </p:spPr>
      </p:pic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3096" y="2057400"/>
            <a:ext cx="1737360" cy="384048"/>
          </a:xfrm>
          <a:prstGeom prst="rect">
            <a:avLst/>
          </a:prstGeom>
          <a:ln/>
        </p:spPr>
      </p:pic>
      <p:sp>
        <p:nvSpPr>
          <p:cNvPr id="28" name="Text 14"/>
          <p:cNvSpPr/>
          <p:nvPr/>
        </p:nvSpPr>
        <p:spPr>
          <a:xfrm>
            <a:off x="6483096" y="20574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MONTHLY</a:t>
            </a:r>
            <a:endParaRPr lang="en-US" sz="1000" dirty="0"/>
          </a:p>
        </p:txBody>
      </p:sp>
      <p:sp>
        <p:nvSpPr>
          <p:cNvPr id="29" name="Text 15"/>
          <p:cNvSpPr/>
          <p:nvPr/>
        </p:nvSpPr>
        <p:spPr>
          <a:xfrm>
            <a:off x="6483096" y="254203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Exposure Visits</a:t>
            </a:r>
            <a:endParaRPr lang="en-US" sz="18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3096" y="3127248"/>
            <a:ext cx="1828800" cy="36576"/>
          </a:xfrm>
          <a:prstGeom prst="rect">
            <a:avLst/>
          </a:prstGeom>
          <a:ln/>
        </p:spPr>
      </p:pic>
      <p:sp>
        <p:nvSpPr>
          <p:cNvPr id="31" name="Shape 16"/>
          <p:cNvSpPr/>
          <p:nvPr/>
        </p:nvSpPr>
        <p:spPr>
          <a:xfrm>
            <a:off x="6510528" y="3401568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32" name="Text 17"/>
          <p:cNvSpPr/>
          <p:nvPr/>
        </p:nvSpPr>
        <p:spPr>
          <a:xfrm>
            <a:off x="6684264" y="32918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AI &amp; Automation – See industrial robots &amp; ML systems</a:t>
            </a:r>
            <a:endParaRPr lang="en-US" sz="1200" dirty="0"/>
          </a:p>
        </p:txBody>
      </p:sp>
      <p:sp>
        <p:nvSpPr>
          <p:cNvPr id="33" name="Shape 18"/>
          <p:cNvSpPr/>
          <p:nvPr/>
        </p:nvSpPr>
        <p:spPr>
          <a:xfrm>
            <a:off x="6510528" y="3931920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34" name="Text 19"/>
          <p:cNvSpPr/>
          <p:nvPr/>
        </p:nvSpPr>
        <p:spPr>
          <a:xfrm>
            <a:off x="6684264" y="382219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Manufacturing – Understand AI-driven production lines</a:t>
            </a:r>
            <a:endParaRPr lang="en-US" sz="1200" dirty="0"/>
          </a:p>
        </p:txBody>
      </p:sp>
      <p:sp>
        <p:nvSpPr>
          <p:cNvPr id="35" name="Shape 20"/>
          <p:cNvSpPr/>
          <p:nvPr/>
        </p:nvSpPr>
        <p:spPr>
          <a:xfrm>
            <a:off x="6510528" y="4462272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36" name="Text 21"/>
          <p:cNvSpPr/>
          <p:nvPr/>
        </p:nvSpPr>
        <p:spPr>
          <a:xfrm>
            <a:off x="6684264" y="435254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Technical Professionals – Interact with engineers &amp; architects</a:t>
            </a:r>
            <a:endParaRPr lang="en-US" sz="1200" dirty="0"/>
          </a:p>
        </p:txBody>
      </p:sp>
      <p:sp>
        <p:nvSpPr>
          <p:cNvPr id="37" name="Shape 22"/>
          <p:cNvSpPr/>
          <p:nvPr/>
        </p:nvSpPr>
        <p:spPr>
          <a:xfrm>
            <a:off x="6510528" y="4992624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38" name="Text 23"/>
          <p:cNvSpPr/>
          <p:nvPr/>
        </p:nvSpPr>
        <p:spPr>
          <a:xfrm>
            <a:off x="6684264" y="488289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Meets Practice – Connect classroom learning to real plants</a:t>
            </a:r>
            <a:endParaRPr lang="en-US" sz="1200" dirty="0"/>
          </a:p>
        </p:txBody>
      </p:sp>
      <p:sp>
        <p:nvSpPr>
          <p:cNvPr id="39" name="Text 24"/>
          <p:cNvSpPr/>
          <p:nvPr/>
        </p:nvSpPr>
        <p:spPr>
          <a:xfrm>
            <a:off x="6483096" y="5440680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"Exposes students to real industrial challenges &amp; practical AI applications in action."</a:t>
            </a:r>
            <a:endParaRPr lang="en-US" sz="1100" dirty="0"/>
          </a:p>
        </p:txBody>
      </p:sp>
      <p:pic>
        <p:nvPicPr>
          <p:cNvPr id="900" name="industry_ai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4048" y="6446839"/>
            <a:ext cx="4572000" cy="731520"/>
          </a:xfrm>
          <a:prstGeom prst="rect">
            <a:avLst/>
          </a:prstGeom>
          <a:ln/>
        </p:spPr>
      </p:pic>
      <p:pic>
        <p:nvPicPr>
          <p:cNvPr id="40" name="industry_ai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75120" y="6277356"/>
            <a:ext cx="5943600" cy="731520"/>
          </a:xfrm>
          <a:prstGeom prst="rect">
            <a:avLst/>
          </a:prstGeom>
          <a:ln/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82F8A20-3D17-1753-D09D-863B4243894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-1828800"/>
            <a:ext cx="5029200" cy="50292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14400" y="3200400"/>
            <a:ext cx="3657600" cy="36576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0" y="4572000"/>
            <a:ext cx="2286000" cy="2286000"/>
          </a:xfrm>
          <a:prstGeom prst="rect">
            <a:avLst/>
          </a:prstGeom>
          <a:ln/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  <a:ln/>
        </p:spPr>
      </p:pic>
      <p:sp>
        <p:nvSpPr>
          <p:cNvPr id="8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9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Club &amp; Campus Transformation</a:t>
            </a:r>
            <a:endParaRPr lang="en-US" sz="3600" dirty="0"/>
          </a:p>
        </p:txBody>
      </p:sp>
      <p:sp>
        <p:nvSpPr>
          <p:cNvPr id="10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classroom to an entire AI-immersive campus environment</a:t>
            </a:r>
            <a:endParaRPr lang="en-US" sz="13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048" y="1920240"/>
            <a:ext cx="5596128" cy="4462272"/>
          </a:xfrm>
          <a:prstGeom prst="rect">
            <a:avLst/>
          </a:prstGeom>
          <a:ln/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5216" y="2084832"/>
            <a:ext cx="548640" cy="548640"/>
          </a:xfrm>
          <a:prstGeom prst="rect">
            <a:avLst/>
          </a:prstGeom>
          <a:ln/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0160" y="2130552"/>
            <a:ext cx="1828800" cy="384048"/>
          </a:xfrm>
          <a:prstGeom prst="rect">
            <a:avLst/>
          </a:prstGeom>
          <a:ln/>
        </p:spPr>
      </p:pic>
      <p:sp>
        <p:nvSpPr>
          <p:cNvPr id="15" name="Text 3"/>
          <p:cNvSpPr/>
          <p:nvPr/>
        </p:nvSpPr>
        <p:spPr>
          <a:xfrm>
            <a:off x="1280160" y="21305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16" name="Text 4"/>
          <p:cNvSpPr/>
          <p:nvPr/>
        </p:nvSpPr>
        <p:spPr>
          <a:xfrm>
            <a:off x="585216" y="2724912"/>
            <a:ext cx="5166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Club Formation</a:t>
            </a:r>
            <a:endParaRPr lang="en-US" sz="1800" dirty="0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216" y="3337560"/>
            <a:ext cx="1828800" cy="36576"/>
          </a:xfrm>
          <a:prstGeom prst="rect">
            <a:avLst/>
          </a:prstGeom>
          <a:ln/>
        </p:spPr>
      </p:pic>
      <p:sp>
        <p:nvSpPr>
          <p:cNvPr id="18" name="Shape 5"/>
          <p:cNvSpPr/>
          <p:nvPr/>
        </p:nvSpPr>
        <p:spPr>
          <a:xfrm>
            <a:off x="612648" y="3630168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19" name="Text 6"/>
          <p:cNvSpPr/>
          <p:nvPr/>
        </p:nvSpPr>
        <p:spPr>
          <a:xfrm>
            <a:off x="786384" y="35204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Peer-Led Innovation – students run AI projects independently</a:t>
            </a:r>
            <a:endParaRPr lang="en-US" sz="1200" dirty="0"/>
          </a:p>
        </p:txBody>
      </p:sp>
      <p:sp>
        <p:nvSpPr>
          <p:cNvPr id="20" name="Shape 7"/>
          <p:cNvSpPr/>
          <p:nvPr/>
        </p:nvSpPr>
        <p:spPr>
          <a:xfrm>
            <a:off x="612648" y="4160520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21" name="Text 8"/>
          <p:cNvSpPr/>
          <p:nvPr/>
        </p:nvSpPr>
        <p:spPr>
          <a:xfrm>
            <a:off x="786384" y="405079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Collaboration – cross-grade design sprints</a:t>
            </a:r>
            <a:endParaRPr lang="en-US" sz="1200" dirty="0"/>
          </a:p>
        </p:txBody>
      </p:sp>
      <p:sp>
        <p:nvSpPr>
          <p:cNvPr id="22" name="Shape 9"/>
          <p:cNvSpPr/>
          <p:nvPr/>
        </p:nvSpPr>
        <p:spPr>
          <a:xfrm>
            <a:off x="612648" y="4690872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23" name="Text 10"/>
          <p:cNvSpPr/>
          <p:nvPr/>
        </p:nvSpPr>
        <p:spPr>
          <a:xfrm>
            <a:off x="786384" y="458114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Leadership – AI captains, club presidents &amp; showcases</a:t>
            </a:r>
            <a:endParaRPr lang="en-US" sz="1200" dirty="0"/>
          </a:p>
        </p:txBody>
      </p:sp>
      <p:sp>
        <p:nvSpPr>
          <p:cNvPr id="24" name="Shape 11"/>
          <p:cNvSpPr/>
          <p:nvPr/>
        </p:nvSpPr>
        <p:spPr>
          <a:xfrm>
            <a:off x="612648" y="5221224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25" name="Text 12"/>
          <p:cNvSpPr/>
          <p:nvPr/>
        </p:nvSpPr>
        <p:spPr>
          <a:xfrm>
            <a:off x="786384" y="511149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Events – demo days, talks &amp; parent exhibitions</a:t>
            </a:r>
            <a:endParaRPr lang="en-US" sz="1200" dirty="0"/>
          </a:p>
        </p:txBody>
      </p:sp>
      <p:sp>
        <p:nvSpPr>
          <p:cNvPr id="26" name="Text 13"/>
          <p:cNvSpPr/>
          <p:nvPr/>
        </p:nvSpPr>
        <p:spPr>
          <a:xfrm>
            <a:off x="585216" y="5559552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AI Club becomes the heartbeat of innovation culture within the institution."</a:t>
            </a:r>
            <a:endParaRPr lang="en-US" sz="110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1928" y="1920240"/>
            <a:ext cx="5596128" cy="4462272"/>
          </a:xfrm>
          <a:prstGeom prst="rect">
            <a:avLst/>
          </a:prstGeom>
          <a:ln/>
        </p:spPr>
      </p:pic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3096" y="2084832"/>
            <a:ext cx="548640" cy="548640"/>
          </a:xfrm>
          <a:prstGeom prst="rect">
            <a:avLst/>
          </a:prstGeom>
          <a:ln/>
        </p:spPr>
      </p:pic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0" y="2130552"/>
            <a:ext cx="1828800" cy="384048"/>
          </a:xfrm>
          <a:prstGeom prst="rect">
            <a:avLst/>
          </a:prstGeom>
          <a:ln/>
        </p:spPr>
      </p:pic>
      <p:sp>
        <p:nvSpPr>
          <p:cNvPr id="30" name="Text 14"/>
          <p:cNvSpPr/>
          <p:nvPr/>
        </p:nvSpPr>
        <p:spPr>
          <a:xfrm>
            <a:off x="7178040" y="21305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CAMPUS-WIDE</a:t>
            </a:r>
            <a:endParaRPr lang="en-US" sz="1000" dirty="0"/>
          </a:p>
        </p:txBody>
      </p:sp>
      <p:sp>
        <p:nvSpPr>
          <p:cNvPr id="31" name="Text 15"/>
          <p:cNvSpPr/>
          <p:nvPr/>
        </p:nvSpPr>
        <p:spPr>
          <a:xfrm>
            <a:off x="6483096" y="2724912"/>
            <a:ext cx="5166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Campus Ecosystem</a:t>
            </a:r>
            <a:endParaRPr lang="en-US" sz="1800" dirty="0"/>
          </a:p>
        </p:txBody>
      </p:sp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3096" y="3337560"/>
            <a:ext cx="1828800" cy="36576"/>
          </a:xfrm>
          <a:prstGeom prst="rect">
            <a:avLst/>
          </a:prstGeom>
          <a:ln/>
        </p:spPr>
      </p:pic>
      <p:sp>
        <p:nvSpPr>
          <p:cNvPr id="33" name="Shape 16"/>
          <p:cNvSpPr/>
          <p:nvPr/>
        </p:nvSpPr>
        <p:spPr>
          <a:xfrm>
            <a:off x="6510528" y="3630168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34" name="Text 17"/>
          <p:cNvSpPr/>
          <p:nvPr/>
        </p:nvSpPr>
        <p:spPr>
          <a:xfrm>
            <a:off x="6684264" y="35204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Awareness Displays – screens showing live AI data &amp; insights</a:t>
            </a:r>
            <a:endParaRPr lang="en-US" sz="1200" dirty="0"/>
          </a:p>
        </p:txBody>
      </p:sp>
      <p:sp>
        <p:nvSpPr>
          <p:cNvPr id="35" name="Shape 18"/>
          <p:cNvSpPr/>
          <p:nvPr/>
        </p:nvSpPr>
        <p:spPr>
          <a:xfrm>
            <a:off x="6510528" y="4160520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36" name="Text 19"/>
          <p:cNvSpPr/>
          <p:nvPr/>
        </p:nvSpPr>
        <p:spPr>
          <a:xfrm>
            <a:off x="6684264" y="405079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Lab Infrastructure – GPU workstations, AR/VR &amp; cloud tools</a:t>
            </a:r>
            <a:endParaRPr lang="en-US" sz="1200" dirty="0"/>
          </a:p>
        </p:txBody>
      </p:sp>
      <p:sp>
        <p:nvSpPr>
          <p:cNvPr id="37" name="Shape 20"/>
          <p:cNvSpPr/>
          <p:nvPr/>
        </p:nvSpPr>
        <p:spPr>
          <a:xfrm>
            <a:off x="6510528" y="4690872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38" name="Text 21"/>
          <p:cNvSpPr/>
          <p:nvPr/>
        </p:nvSpPr>
        <p:spPr>
          <a:xfrm>
            <a:off x="6684264" y="458114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Boards – digital dashboards of student AI projects</a:t>
            </a:r>
            <a:endParaRPr lang="en-US" sz="1200" dirty="0"/>
          </a:p>
        </p:txBody>
      </p:sp>
      <p:sp>
        <p:nvSpPr>
          <p:cNvPr id="39" name="Shape 22"/>
          <p:cNvSpPr/>
          <p:nvPr/>
        </p:nvSpPr>
        <p:spPr>
          <a:xfrm>
            <a:off x="6510528" y="5221224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40" name="Text 23"/>
          <p:cNvSpPr/>
          <p:nvPr/>
        </p:nvSpPr>
        <p:spPr>
          <a:xfrm>
            <a:off x="6684264" y="511149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Culture – tech-integrated learning across all subjects</a:t>
            </a:r>
            <a:endParaRPr lang="en-US" sz="1200" dirty="0"/>
          </a:p>
        </p:txBody>
      </p:sp>
      <p:sp>
        <p:nvSpPr>
          <p:cNvPr id="41" name="Text 24"/>
          <p:cNvSpPr/>
          <p:nvPr/>
        </p:nvSpPr>
        <p:spPr>
          <a:xfrm>
            <a:off x="6483096" y="5559552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whole campus becomes an AI-immersive environment — not just one classroom."</a:t>
            </a:r>
            <a:endParaRPr lang="en-US" sz="11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BF9E17D-6526-E897-ADDF-CD52306AA6D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71600" y="-1371600"/>
            <a:ext cx="5943600" cy="59436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2286000"/>
            <a:ext cx="5029200" cy="50292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  <a:ln/>
        </p:spPr>
      </p:pic>
      <p:sp>
        <p:nvSpPr>
          <p:cNvPr id="7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8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Labs &amp; Academic Rigor</a:t>
            </a:r>
            <a:endParaRPr lang="en-US" sz="3600" dirty="0"/>
          </a:p>
        </p:txBody>
      </p:sp>
      <p:sp>
        <p:nvSpPr>
          <p:cNvPr id="9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competitive hackathons to CBSE-aligned theory — a complete learning loop</a:t>
            </a:r>
            <a:endParaRPr lang="en-US" sz="13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" y="1920240"/>
            <a:ext cx="3657600" cy="4572000"/>
          </a:xfrm>
          <a:prstGeom prst="rect">
            <a:avLst/>
          </a:prstGeom>
          <a:ln/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084832"/>
            <a:ext cx="594360" cy="594360"/>
          </a:xfrm>
          <a:prstGeom prst="rect">
            <a:avLst/>
          </a:prstGeom>
          <a:ln/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7592" y="2148840"/>
            <a:ext cx="2286000" cy="384048"/>
          </a:xfrm>
          <a:prstGeom prst="rect">
            <a:avLst/>
          </a:prstGeom>
          <a:ln/>
        </p:spPr>
      </p:pic>
      <p:sp>
        <p:nvSpPr>
          <p:cNvPr id="14" name="Text 3"/>
          <p:cNvSpPr/>
          <p:nvPr/>
        </p:nvSpPr>
        <p:spPr>
          <a:xfrm>
            <a:off x="1307592" y="2148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15" name="Text 4"/>
          <p:cNvSpPr/>
          <p:nvPr/>
        </p:nvSpPr>
        <p:spPr>
          <a:xfrm>
            <a:off x="548640" y="27432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Engagement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60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3493008"/>
            <a:ext cx="1645920" cy="36576"/>
          </a:xfrm>
          <a:prstGeom prst="rect">
            <a:avLst/>
          </a:prstGeom>
          <a:ln/>
        </p:spPr>
      </p:pic>
      <p:sp>
        <p:nvSpPr>
          <p:cNvPr id="17" name="Shape 5"/>
          <p:cNvSpPr/>
          <p:nvPr/>
        </p:nvSpPr>
        <p:spPr>
          <a:xfrm>
            <a:off x="576072" y="3785616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18" name="Text 6"/>
          <p:cNvSpPr/>
          <p:nvPr/>
        </p:nvSpPr>
        <p:spPr>
          <a:xfrm>
            <a:off x="749808" y="36758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Quizzes – weekly assessments</a:t>
            </a:r>
            <a:endParaRPr lang="en-US" sz="1100" dirty="0"/>
          </a:p>
        </p:txBody>
      </p:sp>
      <p:sp>
        <p:nvSpPr>
          <p:cNvPr id="19" name="Shape 7"/>
          <p:cNvSpPr/>
          <p:nvPr/>
        </p:nvSpPr>
        <p:spPr>
          <a:xfrm>
            <a:off x="576072" y="4352544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20" name="Text 8"/>
          <p:cNvSpPr/>
          <p:nvPr/>
        </p:nvSpPr>
        <p:spPr>
          <a:xfrm>
            <a:off x="749808" y="424281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Challenges – analytical problem-solving</a:t>
            </a:r>
            <a:endParaRPr lang="en-US" sz="1100" dirty="0"/>
          </a:p>
        </p:txBody>
      </p:sp>
      <p:sp>
        <p:nvSpPr>
          <p:cNvPr id="21" name="Shape 9"/>
          <p:cNvSpPr/>
          <p:nvPr/>
        </p:nvSpPr>
        <p:spPr>
          <a:xfrm>
            <a:off x="576072" y="4919472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22" name="Text 10"/>
          <p:cNvSpPr/>
          <p:nvPr/>
        </p:nvSpPr>
        <p:spPr>
          <a:xfrm>
            <a:off x="749808" y="480974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Comprehension Games – gamified learning</a:t>
            </a:r>
            <a:endParaRPr lang="en-US" sz="1100" dirty="0"/>
          </a:p>
        </p:txBody>
      </p:sp>
      <p:sp>
        <p:nvSpPr>
          <p:cNvPr id="23" name="Shape 11"/>
          <p:cNvSpPr/>
          <p:nvPr/>
        </p:nvSpPr>
        <p:spPr>
          <a:xfrm>
            <a:off x="576072" y="5486400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24" name="Text 12"/>
          <p:cNvSpPr/>
          <p:nvPr/>
        </p:nvSpPr>
        <p:spPr>
          <a:xfrm>
            <a:off x="749808" y="537667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Competitions – AI problem-solving contests</a:t>
            </a:r>
            <a:endParaRPr lang="en-US" sz="11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79392" y="1920240"/>
            <a:ext cx="3657600" cy="4572000"/>
          </a:xfrm>
          <a:prstGeom prst="rect">
            <a:avLst/>
          </a:prstGeom>
          <a:ln/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0560" y="2084832"/>
            <a:ext cx="594360" cy="594360"/>
          </a:xfrm>
          <a:prstGeom prst="rect">
            <a:avLst/>
          </a:prstGeom>
          <a:ln/>
        </p:spPr>
      </p:pic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39512" y="2148840"/>
            <a:ext cx="2286000" cy="384048"/>
          </a:xfrm>
          <a:prstGeom prst="rect">
            <a:avLst/>
          </a:prstGeom>
          <a:ln/>
        </p:spPr>
      </p:pic>
      <p:sp>
        <p:nvSpPr>
          <p:cNvPr id="28" name="Text 13"/>
          <p:cNvSpPr/>
          <p:nvPr/>
        </p:nvSpPr>
        <p:spPr>
          <a:xfrm>
            <a:off x="5239512" y="2148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× 2</a:t>
            </a:r>
            <a:endParaRPr lang="en-US" sz="900" dirty="0"/>
          </a:p>
        </p:txBody>
      </p:sp>
      <p:sp>
        <p:nvSpPr>
          <p:cNvPr id="29" name="Text 14"/>
          <p:cNvSpPr/>
          <p:nvPr/>
        </p:nvSpPr>
        <p:spPr>
          <a:xfrm>
            <a:off x="4480560" y="27432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Intra-School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</a:t>
            </a:r>
            <a:endParaRPr lang="en-US" sz="1600" dirty="0"/>
          </a:p>
        </p:txBody>
      </p:sp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80560" y="3493008"/>
            <a:ext cx="1645920" cy="36576"/>
          </a:xfrm>
          <a:prstGeom prst="rect">
            <a:avLst/>
          </a:prstGeom>
          <a:ln/>
        </p:spPr>
      </p:pic>
      <p:sp>
        <p:nvSpPr>
          <p:cNvPr id="31" name="Shape 15"/>
          <p:cNvSpPr/>
          <p:nvPr/>
        </p:nvSpPr>
        <p:spPr>
          <a:xfrm>
            <a:off x="4507992" y="3785616"/>
            <a:ext cx="82296" cy="82296"/>
          </a:xfrm>
          <a:prstGeom prst="ellipse">
            <a:avLst/>
          </a:prstGeom>
          <a:solidFill>
            <a:srgbClr val="1A1A35"/>
          </a:solidFill>
          <a:ln w="12700">
            <a:solidFill>
              <a:srgbClr val="252545"/>
            </a:solidFill>
            <a:prstDash val="solid"/>
          </a:ln>
        </p:spPr>
        <p:txBody>
          <a:bodyPr/>
          <a:p/>
        </p:txBody>
      </p:sp>
      <p:sp>
        <p:nvSpPr>
          <p:cNvPr id="32" name="Text 16"/>
          <p:cNvSpPr/>
          <p:nvPr/>
        </p:nvSpPr>
        <p:spPr>
          <a:xfrm>
            <a:off x="4681728" y="36758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 Problems – live industrial challenges</a:t>
            </a:r>
            <a:endParaRPr lang="en-US" sz="1100" dirty="0"/>
          </a:p>
        </p:txBody>
      </p:sp>
      <p:sp>
        <p:nvSpPr>
          <p:cNvPr id="33" name="Shape 17"/>
          <p:cNvSpPr/>
          <p:nvPr/>
        </p:nvSpPr>
        <p:spPr>
          <a:xfrm>
            <a:off x="4507992" y="4352544"/>
            <a:ext cx="82296" cy="82296"/>
          </a:xfrm>
          <a:prstGeom prst="ellipse">
            <a:avLst/>
          </a:prstGeom>
          <a:solidFill>
            <a:srgbClr val="1A1A35"/>
          </a:solidFill>
          <a:ln w="12700">
            <a:solidFill>
              <a:srgbClr val="252545"/>
            </a:solidFill>
            <a:prstDash val="solid"/>
          </a:ln>
        </p:spPr>
        <p:txBody>
          <a:bodyPr/>
          <a:p/>
        </p:txBody>
      </p:sp>
      <p:sp>
        <p:nvSpPr>
          <p:cNvPr id="34" name="Text 18"/>
          <p:cNvSpPr/>
          <p:nvPr/>
        </p:nvSpPr>
        <p:spPr>
          <a:xfrm>
            <a:off x="4681728" y="424281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24-48 hr Sprint – ideate, prototype, present</a:t>
            </a:r>
            <a:endParaRPr lang="en-US" sz="1100" dirty="0"/>
          </a:p>
        </p:txBody>
      </p:sp>
      <p:sp>
        <p:nvSpPr>
          <p:cNvPr id="35" name="Shape 19"/>
          <p:cNvSpPr/>
          <p:nvPr/>
        </p:nvSpPr>
        <p:spPr>
          <a:xfrm>
            <a:off x="4507992" y="4919472"/>
            <a:ext cx="82296" cy="82296"/>
          </a:xfrm>
          <a:prstGeom prst="ellipse">
            <a:avLst/>
          </a:prstGeom>
          <a:solidFill>
            <a:srgbClr val="1A1A35"/>
          </a:solidFill>
          <a:ln w="12700">
            <a:solidFill>
              <a:srgbClr val="252545"/>
            </a:solidFill>
            <a:prstDash val="solid"/>
          </a:ln>
        </p:spPr>
        <p:txBody>
          <a:bodyPr/>
          <a:p/>
        </p:txBody>
      </p:sp>
      <p:sp>
        <p:nvSpPr>
          <p:cNvPr id="36" name="Text 20"/>
          <p:cNvSpPr/>
          <p:nvPr/>
        </p:nvSpPr>
        <p:spPr>
          <a:xfrm>
            <a:off x="4681728" y="480974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Cross-Grade Teams – system design thinking</a:t>
            </a:r>
            <a:endParaRPr lang="en-US" sz="1100" dirty="0"/>
          </a:p>
        </p:txBody>
      </p:sp>
      <p:sp>
        <p:nvSpPr>
          <p:cNvPr id="37" name="Shape 21"/>
          <p:cNvSpPr/>
          <p:nvPr/>
        </p:nvSpPr>
        <p:spPr>
          <a:xfrm>
            <a:off x="4507992" y="5486400"/>
            <a:ext cx="82296" cy="82296"/>
          </a:xfrm>
          <a:prstGeom prst="ellipse">
            <a:avLst/>
          </a:prstGeom>
          <a:solidFill>
            <a:srgbClr val="1A1A35"/>
          </a:solidFill>
          <a:ln w="12700">
            <a:solidFill>
              <a:srgbClr val="252545"/>
            </a:solidFill>
            <a:prstDash val="solid"/>
          </a:ln>
        </p:spPr>
        <p:txBody>
          <a:bodyPr/>
          <a:p/>
        </p:txBody>
      </p:sp>
      <p:sp>
        <p:nvSpPr>
          <p:cNvPr id="38" name="Text 22"/>
          <p:cNvSpPr/>
          <p:nvPr/>
        </p:nvSpPr>
        <p:spPr>
          <a:xfrm>
            <a:off x="4681728" y="537667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Panel Judging – AI professionals</a:t>
            </a:r>
            <a:endParaRPr lang="en-US" sz="1100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11312" y="1920240"/>
            <a:ext cx="3657600" cy="4572000"/>
          </a:xfrm>
          <a:prstGeom prst="rect">
            <a:avLst/>
          </a:prstGeom>
          <a:ln/>
        </p:spPr>
      </p:pic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12480" y="2084832"/>
            <a:ext cx="594360" cy="594360"/>
          </a:xfrm>
          <a:prstGeom prst="rect">
            <a:avLst/>
          </a:prstGeom>
          <a:ln/>
        </p:spPr>
      </p:pic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71432" y="2148840"/>
            <a:ext cx="2286000" cy="384048"/>
          </a:xfrm>
          <a:prstGeom prst="rect">
            <a:avLst/>
          </a:prstGeom>
          <a:ln/>
        </p:spPr>
      </p:pic>
      <p:sp>
        <p:nvSpPr>
          <p:cNvPr id="42" name="Text 23"/>
          <p:cNvSpPr/>
          <p:nvPr/>
        </p:nvSpPr>
        <p:spPr>
          <a:xfrm>
            <a:off x="9171432" y="2148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+ WEEKLY</a:t>
            </a:r>
            <a:endParaRPr lang="en-US" sz="900" dirty="0"/>
          </a:p>
        </p:txBody>
      </p:sp>
      <p:sp>
        <p:nvSpPr>
          <p:cNvPr id="43" name="Text 24"/>
          <p:cNvSpPr/>
          <p:nvPr/>
        </p:nvSpPr>
        <p:spPr>
          <a:xfrm>
            <a:off x="8412480" y="27432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Inter-School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&amp; Theory</a:t>
            </a:r>
            <a:endParaRPr lang="en-US" sz="1600" dirty="0"/>
          </a:p>
        </p:txBody>
      </p:sp>
      <p:pic>
        <p:nvPicPr>
          <p:cNvPr id="44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12480" y="3493008"/>
            <a:ext cx="1645920" cy="36576"/>
          </a:xfrm>
          <a:prstGeom prst="rect">
            <a:avLst/>
          </a:prstGeom>
          <a:ln/>
        </p:spPr>
      </p:pic>
      <p:sp>
        <p:nvSpPr>
          <p:cNvPr id="45" name="Shape 25"/>
          <p:cNvSpPr/>
          <p:nvPr/>
        </p:nvSpPr>
        <p:spPr>
          <a:xfrm>
            <a:off x="8439912" y="3785616"/>
            <a:ext cx="82296" cy="822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p/>
        </p:txBody>
      </p:sp>
      <p:sp>
        <p:nvSpPr>
          <p:cNvPr id="46" name="Text 26"/>
          <p:cNvSpPr/>
          <p:nvPr/>
        </p:nvSpPr>
        <p:spPr>
          <a:xfrm>
            <a:off x="8613648" y="36758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Competition – compete against best students</a:t>
            </a:r>
            <a:endParaRPr lang="en-US" sz="1100" dirty="0"/>
          </a:p>
        </p:txBody>
      </p:sp>
      <p:sp>
        <p:nvSpPr>
          <p:cNvPr id="47" name="Shape 27"/>
          <p:cNvSpPr/>
          <p:nvPr/>
        </p:nvSpPr>
        <p:spPr>
          <a:xfrm>
            <a:off x="8439912" y="4352544"/>
            <a:ext cx="82296" cy="822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p/>
        </p:txBody>
      </p:sp>
      <p:sp>
        <p:nvSpPr>
          <p:cNvPr id="48" name="Text 28"/>
          <p:cNvSpPr/>
          <p:nvPr/>
        </p:nvSpPr>
        <p:spPr>
          <a:xfrm>
            <a:off x="8613648" y="424281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Elevation – school's AI identity on stage</a:t>
            </a:r>
            <a:endParaRPr lang="en-US" sz="1100" dirty="0"/>
          </a:p>
        </p:txBody>
      </p:sp>
      <p:sp>
        <p:nvSpPr>
          <p:cNvPr id="49" name="Shape 29"/>
          <p:cNvSpPr/>
          <p:nvPr/>
        </p:nvSpPr>
        <p:spPr>
          <a:xfrm>
            <a:off x="8439912" y="4919472"/>
            <a:ext cx="82296" cy="822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p/>
        </p:txBody>
      </p:sp>
      <p:sp>
        <p:nvSpPr>
          <p:cNvPr id="50" name="Text 30"/>
          <p:cNvSpPr/>
          <p:nvPr/>
        </p:nvSpPr>
        <p:spPr>
          <a:xfrm>
            <a:off x="8613648" y="480974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Skill Objectives – national AI framework</a:t>
            </a:r>
            <a:endParaRPr lang="en-US" sz="1100" dirty="0"/>
          </a:p>
        </p:txBody>
      </p:sp>
      <p:sp>
        <p:nvSpPr>
          <p:cNvPr id="51" name="Shape 31"/>
          <p:cNvSpPr/>
          <p:nvPr/>
        </p:nvSpPr>
        <p:spPr>
          <a:xfrm>
            <a:off x="8439912" y="5486400"/>
            <a:ext cx="82296" cy="822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p/>
        </p:txBody>
      </p:sp>
      <p:sp>
        <p:nvSpPr>
          <p:cNvPr id="52" name="Text 32"/>
          <p:cNvSpPr/>
          <p:nvPr/>
        </p:nvSpPr>
        <p:spPr>
          <a:xfrm>
            <a:off x="8613648" y="537667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Thinking – algorithm design &amp; abstraction</a:t>
            </a:r>
            <a:endParaRPr lang="en-US" sz="11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88AB9D6D-D8CC-8A23-3ED8-374D4C7429F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4400" y="2743200"/>
            <a:ext cx="4572000" cy="45720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-1371600"/>
            <a:ext cx="5029200" cy="50292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59" y="292608"/>
            <a:ext cx="1828799" cy="347472"/>
          </a:xfrm>
          <a:prstGeom prst="rect">
            <a:avLst/>
          </a:prstGeom>
          <a:ln/>
        </p:spPr>
      </p:pic>
      <p:sp>
        <p:nvSpPr>
          <p:cNvPr id="7" name="Text 0"/>
          <p:cNvSpPr/>
          <p:nvPr/>
        </p:nvSpPr>
        <p:spPr>
          <a:xfrm>
            <a:off x="594360" y="292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ECOSYSTEM</a:t>
            </a:r>
            <a:endParaRPr lang="en-US" sz="1100" dirty="0"/>
          </a:p>
        </p:txBody>
      </p:sp>
      <p:sp>
        <p:nvSpPr>
          <p:cNvPr id="8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AI Ecosystem</a:t>
            </a:r>
            <a:endParaRPr lang="en-US" sz="3600" dirty="0"/>
          </a:p>
        </p:txBody>
      </p:sp>
      <p:sp>
        <p:nvSpPr>
          <p:cNvPr id="9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integrated pillars — designed to work together as a seamless institutional framework</a:t>
            </a:r>
            <a:endParaRPr lang="en-US" sz="13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48" y="2103120"/>
            <a:ext cx="11384280" cy="530352"/>
          </a:xfrm>
          <a:prstGeom prst="rect">
            <a:avLst/>
          </a:prstGeom>
          <a:ln/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2185416"/>
            <a:ext cx="365760" cy="365760"/>
          </a:xfrm>
          <a:prstGeom prst="rect">
            <a:avLst/>
          </a:prstGeom>
          <a:ln/>
        </p:spPr>
      </p:pic>
      <p:sp>
        <p:nvSpPr>
          <p:cNvPr id="13" name="Text 3"/>
          <p:cNvSpPr/>
          <p:nvPr/>
        </p:nvSpPr>
        <p:spPr>
          <a:xfrm>
            <a:off x="1005840" y="210312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Seminars</a:t>
            </a:r>
            <a:endParaRPr lang="en-US" sz="1200" dirty="0"/>
          </a:p>
        </p:txBody>
      </p:sp>
      <p:sp>
        <p:nvSpPr>
          <p:cNvPr id="14" name="Text 4"/>
          <p:cNvSpPr/>
          <p:nvPr/>
        </p:nvSpPr>
        <p:spPr>
          <a:xfrm>
            <a:off x="3474720" y="210312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sessions/month · AI researchers, CEOs &amp; founders sharing real industrial challenges</a:t>
            </a:r>
            <a:endParaRPr lang="en-US" sz="110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048" y="2660904"/>
            <a:ext cx="11384280" cy="530352"/>
          </a:xfrm>
          <a:prstGeom prst="rect">
            <a:avLst/>
          </a:prstGeom>
          <a:ln/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" y="2743200"/>
            <a:ext cx="365760" cy="365760"/>
          </a:xfrm>
          <a:prstGeom prst="rect">
            <a:avLst/>
          </a:prstGeom>
          <a:ln/>
        </p:spPr>
      </p:pic>
      <p:sp>
        <p:nvSpPr>
          <p:cNvPr id="17" name="Text 5"/>
          <p:cNvSpPr/>
          <p:nvPr/>
        </p:nvSpPr>
        <p:spPr>
          <a:xfrm>
            <a:off x="1005840" y="266090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Visits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3474720" y="266090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visit/month · Students observe AI &amp; automation in live production environments</a:t>
            </a:r>
            <a:endParaRPr lang="en-US" sz="110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048" y="3218688"/>
            <a:ext cx="11384280" cy="530352"/>
          </a:xfrm>
          <a:prstGeom prst="rect">
            <a:avLst/>
          </a:prstGeom>
          <a:ln/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" y="3300984"/>
            <a:ext cx="365760" cy="365760"/>
          </a:xfrm>
          <a:prstGeom prst="rect">
            <a:avLst/>
          </a:prstGeom>
          <a:ln/>
        </p:spPr>
      </p:pic>
      <p:sp>
        <p:nvSpPr>
          <p:cNvPr id="21" name="Text 7"/>
          <p:cNvSpPr/>
          <p:nvPr/>
        </p:nvSpPr>
        <p:spPr>
          <a:xfrm>
            <a:off x="1005840" y="321868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Club Formation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3474720" y="321868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Peer-led AI club · Innovation teams, project collaboration &amp; student AI leadership</a:t>
            </a:r>
            <a:endParaRPr lang="en-US" sz="1100" dirty="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048" y="3776472"/>
            <a:ext cx="11384280" cy="530352"/>
          </a:xfrm>
          <a:prstGeom prst="rect">
            <a:avLst/>
          </a:prstGeom>
          <a:ln/>
        </p:spPr>
      </p:pic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2920" y="3858768"/>
            <a:ext cx="365760" cy="365760"/>
          </a:xfrm>
          <a:prstGeom prst="rect">
            <a:avLst/>
          </a:prstGeom>
          <a:ln/>
        </p:spPr>
      </p:pic>
      <p:sp>
        <p:nvSpPr>
          <p:cNvPr id="25" name="Text 9"/>
          <p:cNvSpPr/>
          <p:nvPr/>
        </p:nvSpPr>
        <p:spPr>
          <a:xfrm>
            <a:off x="1005840" y="377647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Ecosystem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3474720" y="377647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displays, smart labs, innovation boards &amp; tech-integrated culture campus-wide</a:t>
            </a:r>
            <a:endParaRPr lang="en-US" sz="1100" dirty="0"/>
          </a:p>
        </p:txBody>
      </p:sp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4048" y="4334256"/>
            <a:ext cx="11384280" cy="530352"/>
          </a:xfrm>
          <a:prstGeom prst="rect">
            <a:avLst/>
          </a:prstGeom>
          <a:ln/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2920" y="4416552"/>
            <a:ext cx="365760" cy="365760"/>
          </a:xfrm>
          <a:prstGeom prst="rect">
            <a:avLst/>
          </a:prstGeom>
          <a:ln/>
        </p:spPr>
      </p:pic>
      <p:sp>
        <p:nvSpPr>
          <p:cNvPr id="29" name="Text 11"/>
          <p:cNvSpPr/>
          <p:nvPr/>
        </p:nvSpPr>
        <p:spPr>
          <a:xfrm>
            <a:off x="1005840" y="433425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Activities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3474720" y="4334256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quizzes, challenges, AI games &amp; comprehension competitions for cognitive agility</a:t>
            </a:r>
            <a:endParaRPr lang="en-US" sz="1100" dirty="0"/>
          </a:p>
        </p:txBody>
      </p:sp>
      <p:pic>
        <p:nvPicPr>
          <p:cNvPr id="31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4048" y="4892040"/>
            <a:ext cx="11384280" cy="530352"/>
          </a:xfrm>
          <a:prstGeom prst="rect">
            <a:avLst/>
          </a:prstGeom>
          <a:ln/>
        </p:spPr>
      </p:pic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2920" y="4974336"/>
            <a:ext cx="365760" cy="365760"/>
          </a:xfrm>
          <a:prstGeom prst="rect">
            <a:avLst/>
          </a:prstGeom>
          <a:ln/>
        </p:spPr>
      </p:pic>
      <p:sp>
        <p:nvSpPr>
          <p:cNvPr id="33" name="Text 13"/>
          <p:cNvSpPr/>
          <p:nvPr/>
        </p:nvSpPr>
        <p:spPr>
          <a:xfrm>
            <a:off x="1005840" y="48920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 Hackathons × 2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3474720" y="489204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annual campus hackathons · Real problems, time-constrained builds, industry judging</a:t>
            </a:r>
            <a:endParaRPr lang="en-US" sz="1100" dirty="0"/>
          </a:p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4048" y="5449824"/>
            <a:ext cx="11384280" cy="530352"/>
          </a:xfrm>
          <a:prstGeom prst="rect">
            <a:avLst/>
          </a:prstGeom>
          <a:ln/>
        </p:spPr>
      </p:pic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2920" y="5532120"/>
            <a:ext cx="365760" cy="365760"/>
          </a:xfrm>
          <a:prstGeom prst="rect">
            <a:avLst/>
          </a:prstGeom>
          <a:ln/>
        </p:spPr>
      </p:pic>
      <p:sp>
        <p:nvSpPr>
          <p:cNvPr id="37" name="Text 15"/>
          <p:cNvSpPr/>
          <p:nvPr/>
        </p:nvSpPr>
        <p:spPr>
          <a:xfrm>
            <a:off x="1005840" y="544982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Hackathon × 1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3474720" y="544982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multi-institution event · Competitive excellence, brand elevation &amp; recognition</a:t>
            </a:r>
            <a:endParaRPr lang="en-US" sz="1100" dirty="0"/>
          </a:p>
        </p:txBody>
      </p:sp>
      <p:pic>
        <p:nvPicPr>
          <p:cNvPr id="39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048" y="6007608"/>
            <a:ext cx="11384280" cy="530352"/>
          </a:xfrm>
          <a:prstGeom prst="rect">
            <a:avLst/>
          </a:prstGeom>
          <a:ln/>
        </p:spPr>
      </p:pic>
      <p:pic>
        <p:nvPicPr>
          <p:cNvPr id="40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2920" y="6089904"/>
            <a:ext cx="365760" cy="365760"/>
          </a:xfrm>
          <a:prstGeom prst="rect">
            <a:avLst/>
          </a:prstGeom>
          <a:ln/>
        </p:spPr>
      </p:pic>
      <p:sp>
        <p:nvSpPr>
          <p:cNvPr id="41" name="Text 17"/>
          <p:cNvSpPr/>
          <p:nvPr/>
        </p:nvSpPr>
        <p:spPr>
          <a:xfrm>
            <a:off x="1005840" y="60076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Theory Classes</a:t>
            </a:r>
            <a:endParaRPr lang="en-US" sz="1200" dirty="0"/>
          </a:p>
        </p:txBody>
      </p:sp>
      <p:sp>
        <p:nvSpPr>
          <p:cNvPr id="42" name="Text 18"/>
          <p:cNvSpPr/>
          <p:nvPr/>
        </p:nvSpPr>
        <p:spPr>
          <a:xfrm>
            <a:off x="3474720" y="600760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Curriculum-aligned AI theory · Computational thinking, logical reasoning &amp; AI literacy</a:t>
            </a:r>
            <a:endParaRPr lang="en-US" sz="1100" dirty="0"/>
          </a:p>
        </p:txBody>
      </p:sp>
      <p:pic>
        <p:nvPicPr>
          <p:cNvPr id="43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23160" y="6492240"/>
            <a:ext cx="7315200" cy="182880"/>
          </a:xfrm>
          <a:prstGeom prst="rect">
            <a:avLst/>
          </a:prstGeom>
          <a:ln/>
        </p:spPr>
      </p:pic>
      <p:sp>
        <p:nvSpPr>
          <p:cNvPr id="44" name="Text 19"/>
          <p:cNvSpPr/>
          <p:nvPr/>
        </p:nvSpPr>
        <p:spPr>
          <a:xfrm>
            <a:off x="548640" y="6601968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NextAIQ Edu creates a complete AI ecosystem — integrating theory, industry exposure, innovation culture &amp; structured competency development.</a:t>
            </a:r>
            <a:endParaRPr lang="en-US" sz="9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07DE10D-33D6-EB49-0984-D3232C2BE55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-1828800"/>
            <a:ext cx="5029200" cy="50292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14400" y="3200400"/>
            <a:ext cx="3657600" cy="36576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57200" y="4572000"/>
            <a:ext cx="2286000" cy="2286000"/>
          </a:xfrm>
          <a:prstGeom prst="rect">
            <a:avLst/>
          </a:prstGeom>
          <a:ln/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  <a:ln/>
        </p:spPr>
      </p:pic>
      <p:sp>
        <p:nvSpPr>
          <p:cNvPr id="8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 &amp; Curriculum Framework</a:t>
            </a:r>
            <a:endParaRPr lang="en-US" sz="3600" dirty="0"/>
          </a:p>
        </p:txBody>
      </p:sp>
      <p:sp>
        <p:nvSpPr>
          <p:cNvPr id="10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carefully sequenced 20-week journey from AI foundations to live industry projects</a:t>
            </a:r>
            <a:endParaRPr lang="en-US" sz="13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" y="1965960"/>
            <a:ext cx="2761488" cy="3840480"/>
          </a:xfrm>
          <a:prstGeom prst="rect">
            <a:avLst/>
          </a:prstGeom>
          <a:ln/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2148840"/>
            <a:ext cx="594360" cy="594360"/>
          </a:xfrm>
          <a:prstGeom prst="rect">
            <a:avLst/>
          </a:prstGeom>
          <a:ln/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0160" y="2212848"/>
            <a:ext cx="1600200" cy="384048"/>
          </a:xfrm>
          <a:prstGeom prst="rect">
            <a:avLst/>
          </a:prstGeom>
          <a:ln/>
        </p:spPr>
      </p:pic>
      <p:sp>
        <p:nvSpPr>
          <p:cNvPr id="15" name="Text 3"/>
          <p:cNvSpPr/>
          <p:nvPr/>
        </p:nvSpPr>
        <p:spPr>
          <a:xfrm>
            <a:off x="1280160" y="22128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000" dirty="0"/>
          </a:p>
        </p:txBody>
      </p:sp>
      <p:sp>
        <p:nvSpPr>
          <p:cNvPr id="16" name="Text 4"/>
          <p:cNvSpPr/>
          <p:nvPr/>
        </p:nvSpPr>
        <p:spPr>
          <a:xfrm>
            <a:off x="512064" y="28529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</a:t>
            </a:r>
            <a:endParaRPr lang="en-US" sz="1700" dirty="0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2064" y="3456432"/>
            <a:ext cx="1371600" cy="36576"/>
          </a:xfrm>
          <a:prstGeom prst="rect">
            <a:avLst/>
          </a:prstGeom>
          <a:ln/>
        </p:spPr>
      </p:pic>
      <p:sp>
        <p:nvSpPr>
          <p:cNvPr id="18" name="Text 5"/>
          <p:cNvSpPr/>
          <p:nvPr/>
        </p:nvSpPr>
        <p:spPr>
          <a:xfrm>
            <a:off x="512064" y="3584448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for AI, Python Basics, Data Literacy, Intro to Machine Learning</a:t>
            </a:r>
            <a:endParaRPr lang="en-US" sz="115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00984" y="1965960"/>
            <a:ext cx="2761488" cy="3840480"/>
          </a:xfrm>
          <a:prstGeom prst="rect">
            <a:avLst/>
          </a:prstGeom>
          <a:ln/>
        </p:spPr>
      </p:pic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02152" y="2148840"/>
            <a:ext cx="594360" cy="594360"/>
          </a:xfrm>
          <a:prstGeom prst="rect">
            <a:avLst/>
          </a:prstGeom>
          <a:ln/>
        </p:spPr>
      </p:pic>
      <p:pic>
        <p:nvPicPr>
          <p:cNvPr id="21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33672" y="2212848"/>
            <a:ext cx="1600200" cy="384048"/>
          </a:xfrm>
          <a:prstGeom prst="rect">
            <a:avLst/>
          </a:prstGeom>
          <a:ln/>
        </p:spPr>
      </p:pic>
      <p:sp>
        <p:nvSpPr>
          <p:cNvPr id="22" name="Text 6"/>
          <p:cNvSpPr/>
          <p:nvPr/>
        </p:nvSpPr>
        <p:spPr>
          <a:xfrm>
            <a:off x="4233672" y="22128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000" dirty="0"/>
          </a:p>
        </p:txBody>
      </p:sp>
      <p:sp>
        <p:nvSpPr>
          <p:cNvPr id="23" name="Text 7"/>
          <p:cNvSpPr/>
          <p:nvPr/>
        </p:nvSpPr>
        <p:spPr>
          <a:xfrm>
            <a:off x="3465576" y="28529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 &amp; DL</a:t>
            </a:r>
            <a:endParaRPr lang="en-US" sz="1700" dirty="0"/>
          </a:p>
        </p:txBody>
      </p:sp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65576" y="3456432"/>
            <a:ext cx="1371600" cy="36576"/>
          </a:xfrm>
          <a:prstGeom prst="rect">
            <a:avLst/>
          </a:prstGeom>
          <a:ln/>
        </p:spPr>
      </p:pic>
      <p:sp>
        <p:nvSpPr>
          <p:cNvPr id="25" name="Text 8"/>
          <p:cNvSpPr/>
          <p:nvPr/>
        </p:nvSpPr>
        <p:spPr>
          <a:xfrm>
            <a:off x="3465576" y="3584448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Supervised/Unsupervised Learning, Neural Networks, TensorFlow fundamentals</a:t>
            </a:r>
            <a:endParaRPr lang="en-US" sz="1150" dirty="0"/>
          </a:p>
        </p:txBody>
      </p:sp>
      <p:pic>
        <p:nvPicPr>
          <p:cNvPr id="26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54496" y="1965960"/>
            <a:ext cx="2761488" cy="3840480"/>
          </a:xfrm>
          <a:prstGeom prst="rect">
            <a:avLst/>
          </a:prstGeom>
          <a:ln/>
        </p:spPr>
      </p:pic>
      <p:pic>
        <p:nvPicPr>
          <p:cNvPr id="27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55664" y="2148840"/>
            <a:ext cx="594360" cy="594360"/>
          </a:xfrm>
          <a:prstGeom prst="rect">
            <a:avLst/>
          </a:prstGeom>
          <a:ln/>
        </p:spPr>
      </p:pic>
      <p:pic>
        <p:nvPicPr>
          <p:cNvPr id="28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87184" y="2212848"/>
            <a:ext cx="1600200" cy="384048"/>
          </a:xfrm>
          <a:prstGeom prst="rect">
            <a:avLst/>
          </a:prstGeom>
          <a:ln/>
        </p:spPr>
      </p:pic>
      <p:sp>
        <p:nvSpPr>
          <p:cNvPr id="29" name="Text 9"/>
          <p:cNvSpPr/>
          <p:nvPr/>
        </p:nvSpPr>
        <p:spPr>
          <a:xfrm>
            <a:off x="7187184" y="22128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000" dirty="0"/>
          </a:p>
        </p:txBody>
      </p:sp>
      <p:sp>
        <p:nvSpPr>
          <p:cNvPr id="30" name="Text 10"/>
          <p:cNvSpPr/>
          <p:nvPr/>
        </p:nvSpPr>
        <p:spPr>
          <a:xfrm>
            <a:off x="6419088" y="28529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AI</a:t>
            </a:r>
            <a:endParaRPr lang="en-US" sz="1700" dirty="0"/>
          </a:p>
        </p:txBody>
      </p:sp>
      <p:pic>
        <p:nvPicPr>
          <p:cNvPr id="31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19088" y="3456432"/>
            <a:ext cx="1371600" cy="36576"/>
          </a:xfrm>
          <a:prstGeom prst="rect">
            <a:avLst/>
          </a:prstGeom>
          <a:ln/>
        </p:spPr>
      </p:pic>
      <p:sp>
        <p:nvSpPr>
          <p:cNvPr id="32" name="Text 11"/>
          <p:cNvSpPr/>
          <p:nvPr/>
        </p:nvSpPr>
        <p:spPr>
          <a:xfrm>
            <a:off x="6419088" y="3584448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Vision, NLP, Predictive Analytics, Real-world Dataset Analysis</a:t>
            </a:r>
            <a:endParaRPr lang="en-US" sz="1150" dirty="0"/>
          </a:p>
        </p:txBody>
      </p:sp>
      <p:pic>
        <p:nvPicPr>
          <p:cNvPr id="33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08008" y="1965960"/>
            <a:ext cx="2761488" cy="3840480"/>
          </a:xfrm>
          <a:prstGeom prst="rect">
            <a:avLst/>
          </a:prstGeom>
          <a:ln/>
        </p:spPr>
      </p:pic>
      <p:pic>
        <p:nvPicPr>
          <p:cNvPr id="34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09176" y="2148840"/>
            <a:ext cx="594360" cy="594360"/>
          </a:xfrm>
          <a:prstGeom prst="rect">
            <a:avLst/>
          </a:prstGeom>
          <a:ln/>
        </p:spPr>
      </p:pic>
      <p:pic>
        <p:nvPicPr>
          <p:cNvPr id="35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40696" y="2212848"/>
            <a:ext cx="1600200" cy="384048"/>
          </a:xfrm>
          <a:prstGeom prst="rect">
            <a:avLst/>
          </a:prstGeom>
          <a:ln/>
        </p:spPr>
      </p:pic>
      <p:sp>
        <p:nvSpPr>
          <p:cNvPr id="36" name="Text 12"/>
          <p:cNvSpPr/>
          <p:nvPr/>
        </p:nvSpPr>
        <p:spPr>
          <a:xfrm>
            <a:off x="10140696" y="22128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000" dirty="0"/>
          </a:p>
        </p:txBody>
      </p:sp>
      <p:sp>
        <p:nvSpPr>
          <p:cNvPr id="37" name="Text 13"/>
          <p:cNvSpPr/>
          <p:nvPr/>
        </p:nvSpPr>
        <p:spPr>
          <a:xfrm>
            <a:off x="9372600" y="28529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700" dirty="0"/>
          </a:p>
        </p:txBody>
      </p:sp>
      <p:pic>
        <p:nvPicPr>
          <p:cNvPr id="38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72600" y="3456432"/>
            <a:ext cx="1371600" cy="36576"/>
          </a:xfrm>
          <a:prstGeom prst="rect">
            <a:avLst/>
          </a:prstGeom>
          <a:ln/>
        </p:spPr>
      </p:pic>
      <p:sp>
        <p:nvSpPr>
          <p:cNvPr id="39" name="Text 14"/>
          <p:cNvSpPr/>
          <p:nvPr/>
        </p:nvSpPr>
        <p:spPr>
          <a:xfrm>
            <a:off x="9372600" y="3584448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Industry Project, Presentation, Certification &amp; Career Preparation</a:t>
            </a:r>
            <a:endParaRPr lang="en-US" sz="1150" dirty="0"/>
          </a:p>
        </p:txBody>
      </p:sp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7472" y="6016752"/>
            <a:ext cx="11475720" cy="749808"/>
          </a:xfrm>
          <a:prstGeom prst="rect">
            <a:avLst/>
          </a:prstGeom>
          <a:ln/>
        </p:spPr>
      </p:pic>
      <p:sp>
        <p:nvSpPr>
          <p:cNvPr id="41" name="Text 15"/>
          <p:cNvSpPr/>
          <p:nvPr/>
        </p:nvSpPr>
        <p:spPr>
          <a:xfrm>
            <a:off x="457200" y="6035040"/>
            <a:ext cx="11247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Duration: 20 Weeks  ·  240+ Hours of Learning  ·  Industry-Aligned Certification</a:t>
            </a:r>
            <a:endParaRPr lang="en-US" sz="15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D335CE5-BFEA-BDB7-E4EB-805B044743C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71600" y="-1371600"/>
            <a:ext cx="5943600" cy="59436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2286000"/>
            <a:ext cx="5029200" cy="50292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  <a:ln/>
        </p:spPr>
      </p:pic>
      <p:sp>
        <p:nvSpPr>
          <p:cNvPr id="7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AI Lab Infrastructure</a:t>
            </a:r>
            <a:endParaRPr lang="en-US" sz="3600" dirty="0"/>
          </a:p>
        </p:txBody>
      </p:sp>
      <p:sp>
        <p:nvSpPr>
          <p:cNvPr id="9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30-seat AI lab — installed, configured, and maintained by NextAIQ</a:t>
            </a:r>
            <a:endParaRPr lang="en-US" sz="13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" y="2084832"/>
            <a:ext cx="3657600" cy="2148840"/>
          </a:xfrm>
          <a:prstGeom prst="rect">
            <a:avLst/>
          </a:prstGeom>
          <a:ln/>
        </p:spPr>
      </p:pic>
      <p:sp>
        <p:nvSpPr>
          <p:cNvPr id="12" name="Text 3"/>
          <p:cNvSpPr/>
          <p:nvPr/>
        </p:nvSpPr>
        <p:spPr>
          <a:xfrm>
            <a:off x="548640" y="231343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0F5"/>
                </a:solidFill>
              </a:rPr>
              <a:t>🖥️</a:t>
            </a:r>
            <a:endParaRPr lang="en-US" sz="2800" dirty="0"/>
          </a:p>
        </p:txBody>
      </p:sp>
      <p:sp>
        <p:nvSpPr>
          <p:cNvPr id="13" name="Text 4"/>
          <p:cNvSpPr/>
          <p:nvPr/>
        </p:nvSpPr>
        <p:spPr>
          <a:xfrm>
            <a:off x="1371600" y="23408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Workstations</a:t>
            </a:r>
            <a:endParaRPr lang="en-US" sz="1400" dirty="0"/>
          </a:p>
        </p:txBody>
      </p:sp>
      <p:sp>
        <p:nvSpPr>
          <p:cNvPr id="14" name="Text 5"/>
          <p:cNvSpPr/>
          <p:nvPr/>
        </p:nvSpPr>
        <p:spPr>
          <a:xfrm>
            <a:off x="548640" y="299923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GPU-enabled machines with AI dev environments pre-configured</a:t>
            </a:r>
            <a:endParaRPr lang="en-US" sz="120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9392" y="2084832"/>
            <a:ext cx="3657600" cy="2148840"/>
          </a:xfrm>
          <a:prstGeom prst="rect">
            <a:avLst/>
          </a:prstGeom>
          <a:ln/>
        </p:spPr>
      </p:pic>
      <p:sp>
        <p:nvSpPr>
          <p:cNvPr id="16" name="Text 6"/>
          <p:cNvSpPr/>
          <p:nvPr/>
        </p:nvSpPr>
        <p:spPr>
          <a:xfrm>
            <a:off x="4480560" y="231343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0F5"/>
                </a:solidFill>
              </a:rPr>
              <a:t>☁️</a:t>
            </a:r>
            <a:endParaRPr lang="en-US" sz="2800" dirty="0"/>
          </a:p>
        </p:txBody>
      </p:sp>
      <p:sp>
        <p:nvSpPr>
          <p:cNvPr id="17" name="Text 7"/>
          <p:cNvSpPr/>
          <p:nvPr/>
        </p:nvSpPr>
        <p:spPr>
          <a:xfrm>
            <a:off x="5303520" y="23408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Platform Access</a:t>
            </a:r>
            <a:endParaRPr lang="en-US" sz="1400" dirty="0"/>
          </a:p>
        </p:txBody>
      </p:sp>
      <p:sp>
        <p:nvSpPr>
          <p:cNvPr id="18" name="Text 8"/>
          <p:cNvSpPr/>
          <p:nvPr/>
        </p:nvSpPr>
        <p:spPr>
          <a:xfrm>
            <a:off x="4480560" y="299923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GCP, and Azure AI services for real-world cloud training</a:t>
            </a:r>
            <a:endParaRPr lang="en-US" sz="12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1312" y="2084832"/>
            <a:ext cx="3657600" cy="2148840"/>
          </a:xfrm>
          <a:prstGeom prst="rect">
            <a:avLst/>
          </a:prstGeom>
          <a:ln/>
        </p:spPr>
      </p:pic>
      <p:sp>
        <p:nvSpPr>
          <p:cNvPr id="20" name="Text 9"/>
          <p:cNvSpPr/>
          <p:nvPr/>
        </p:nvSpPr>
        <p:spPr>
          <a:xfrm>
            <a:off x="8412480" y="231343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0F5"/>
                </a:solidFill>
              </a:rPr>
              <a:t>📺</a:t>
            </a:r>
            <a:endParaRPr lang="en-US" sz="2800" dirty="0"/>
          </a:p>
        </p:txBody>
      </p:sp>
      <p:sp>
        <p:nvSpPr>
          <p:cNvPr id="21" name="Text 10"/>
          <p:cNvSpPr/>
          <p:nvPr/>
        </p:nvSpPr>
        <p:spPr>
          <a:xfrm>
            <a:off x="9235440" y="23408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Smart Boards</a:t>
            </a:r>
            <a:endParaRPr lang="en-US" sz="1400" dirty="0"/>
          </a:p>
        </p:txBody>
      </p:sp>
      <p:sp>
        <p:nvSpPr>
          <p:cNvPr id="22" name="Text 11"/>
          <p:cNvSpPr/>
          <p:nvPr/>
        </p:nvSpPr>
        <p:spPr>
          <a:xfrm>
            <a:off x="8412480" y="299923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workspaces for peer learning and hackathons</a:t>
            </a:r>
            <a:endParaRPr lang="en-US" sz="12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472" y="4416552"/>
            <a:ext cx="3657600" cy="2148840"/>
          </a:xfrm>
          <a:prstGeom prst="rect">
            <a:avLst/>
          </a:prstGeom>
          <a:ln/>
        </p:spPr>
      </p:pic>
      <p:sp>
        <p:nvSpPr>
          <p:cNvPr id="24" name="Text 12"/>
          <p:cNvSpPr/>
          <p:nvPr/>
        </p:nvSpPr>
        <p:spPr>
          <a:xfrm>
            <a:off x="548640" y="464515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0F5"/>
                </a:solidFill>
              </a:rPr>
              <a:t>🗄️</a:t>
            </a:r>
            <a:endParaRPr lang="en-US" sz="2800" dirty="0"/>
          </a:p>
        </p:txBody>
      </p:sp>
      <p:sp>
        <p:nvSpPr>
          <p:cNvPr id="25" name="Text 13"/>
          <p:cNvSpPr/>
          <p:nvPr/>
        </p:nvSpPr>
        <p:spPr>
          <a:xfrm>
            <a:off x="1371600" y="467258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Server &amp; NAS Storage</a:t>
            </a:r>
            <a:endParaRPr lang="en-US" sz="1400" dirty="0"/>
          </a:p>
        </p:txBody>
      </p:sp>
      <p:sp>
        <p:nvSpPr>
          <p:cNvPr id="26" name="Text 14"/>
          <p:cNvSpPr/>
          <p:nvPr/>
        </p:nvSpPr>
        <p:spPr>
          <a:xfrm>
            <a:off x="548640" y="533095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datasets, simulation environments &amp; open-source AI models</a:t>
            </a:r>
            <a:endParaRPr lang="en-US" sz="12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79392" y="4416552"/>
            <a:ext cx="3657600" cy="2148840"/>
          </a:xfrm>
          <a:prstGeom prst="rect">
            <a:avLst/>
          </a:prstGeom>
          <a:ln/>
        </p:spPr>
      </p:pic>
      <p:sp>
        <p:nvSpPr>
          <p:cNvPr id="28" name="Text 15"/>
          <p:cNvSpPr/>
          <p:nvPr/>
        </p:nvSpPr>
        <p:spPr>
          <a:xfrm>
            <a:off x="4480560" y="464515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0F5"/>
                </a:solidFill>
              </a:rPr>
              <a:t>🥽</a:t>
            </a:r>
            <a:endParaRPr lang="en-US" sz="2800" dirty="0"/>
          </a:p>
        </p:txBody>
      </p:sp>
      <p:sp>
        <p:nvSpPr>
          <p:cNvPr id="29" name="Text 16"/>
          <p:cNvSpPr/>
          <p:nvPr/>
        </p:nvSpPr>
        <p:spPr>
          <a:xfrm>
            <a:off x="5303520" y="467258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 Headsets</a:t>
            </a:r>
            <a:endParaRPr lang="en-US" sz="1400" dirty="0"/>
          </a:p>
        </p:txBody>
      </p:sp>
      <p:sp>
        <p:nvSpPr>
          <p:cNvPr id="30" name="Text 17"/>
          <p:cNvSpPr/>
          <p:nvPr/>
        </p:nvSpPr>
        <p:spPr>
          <a:xfrm>
            <a:off x="4480560" y="533095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learning and industrial simulation environments</a:t>
            </a:r>
            <a:endParaRPr lang="en-US" sz="12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1312" y="4416552"/>
            <a:ext cx="3657600" cy="2148840"/>
          </a:xfrm>
          <a:prstGeom prst="rect">
            <a:avLst/>
          </a:prstGeom>
          <a:ln/>
        </p:spPr>
      </p:pic>
      <p:sp>
        <p:nvSpPr>
          <p:cNvPr id="32" name="Text 18"/>
          <p:cNvSpPr/>
          <p:nvPr/>
        </p:nvSpPr>
        <p:spPr>
          <a:xfrm>
            <a:off x="8412480" y="464515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0F5"/>
                </a:solidFill>
              </a:rPr>
              <a:t>🔧</a:t>
            </a:r>
            <a:endParaRPr lang="en-US" sz="2800" dirty="0"/>
          </a:p>
        </p:txBody>
      </p:sp>
      <p:sp>
        <p:nvSpPr>
          <p:cNvPr id="33" name="Text 19"/>
          <p:cNvSpPr/>
          <p:nvPr/>
        </p:nvSpPr>
        <p:spPr>
          <a:xfrm>
            <a:off x="9235440" y="467258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Hardware Upgrades</a:t>
            </a:r>
            <a:endParaRPr lang="en-US" sz="1400" dirty="0"/>
          </a:p>
        </p:txBody>
      </p:sp>
      <p:sp>
        <p:nvSpPr>
          <p:cNvPr id="34" name="Text 20"/>
          <p:cNvSpPr/>
          <p:nvPr/>
        </p:nvSpPr>
        <p:spPr>
          <a:xfrm>
            <a:off x="8412480" y="533095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remote instructor support &amp; ongoing infrastructure refresh</a:t>
            </a:r>
            <a:endParaRPr lang="en-US" sz="120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23360" y="6446520"/>
            <a:ext cx="4114800" cy="347472"/>
          </a:xfrm>
          <a:prstGeom prst="rect">
            <a:avLst/>
          </a:prstGeom>
          <a:ln/>
        </p:spPr>
      </p:pic>
      <p:sp>
        <p:nvSpPr>
          <p:cNvPr id="36" name="Text 21"/>
          <p:cNvSpPr/>
          <p:nvPr/>
        </p:nvSpPr>
        <p:spPr>
          <a:xfrm>
            <a:off x="4023360" y="64465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30-seat Smart Lab per School — Setup, Installed &amp; Maintained</a:t>
            </a:r>
            <a:endParaRPr lang="en-US" sz="1100" dirty="0"/>
          </a:p>
        </p:txBody>
      </p:sp>
      <p:pic>
        <p:nvPicPr>
          <p:cNvPr id="900" name="hardware_lab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43701" y="36576"/>
            <a:ext cx="3749039" cy="2194560"/>
          </a:xfrm>
          <a:prstGeom prst="rect">
            <a:avLst/>
          </a:prstGeom>
          <a:ln/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3326DA7-D2C6-C799-65EB-88C3EFDE285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4400" y="2743200"/>
            <a:ext cx="4572000" cy="45720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-1371600"/>
            <a:ext cx="5029200" cy="50292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0" y="4114800"/>
            <a:ext cx="2286000" cy="2286000"/>
          </a:xfrm>
          <a:prstGeom prst="rect">
            <a:avLst/>
          </a:prstGeom>
          <a:ln/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  <a:ln/>
        </p:spPr>
      </p:pic>
      <p:sp>
        <p:nvSpPr>
          <p:cNvPr id="8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9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Learning Outcomes</a:t>
            </a:r>
            <a:endParaRPr lang="en-US" sz="3600" dirty="0"/>
          </a:p>
        </p:txBody>
      </p:sp>
      <p:sp>
        <p:nvSpPr>
          <p:cNvPr id="10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will achieve upon completion of the NextAIQ Edu program</a:t>
            </a:r>
            <a:endParaRPr lang="en-US" sz="13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" y="2148840"/>
            <a:ext cx="3657600" cy="2148840"/>
          </a:xfrm>
          <a:prstGeom prst="rect">
            <a:avLst/>
          </a:prstGeom>
          <a:ln/>
        </p:spPr>
      </p:pic>
      <p:sp>
        <p:nvSpPr>
          <p:cNvPr id="13" name="Text 3"/>
          <p:cNvSpPr/>
          <p:nvPr/>
        </p:nvSpPr>
        <p:spPr>
          <a:xfrm>
            <a:off x="548640" y="23774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0F5"/>
                </a:solidFill>
              </a:rPr>
              <a:t>🤖</a:t>
            </a:r>
            <a:endParaRPr lang="en-US" sz="2800" dirty="0"/>
          </a:p>
        </p:txBody>
      </p:sp>
      <p:sp>
        <p:nvSpPr>
          <p:cNvPr id="14" name="Text 4"/>
          <p:cNvSpPr/>
          <p:nvPr/>
        </p:nvSpPr>
        <p:spPr>
          <a:xfrm>
            <a:off x="1371600" y="24048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Proficiency</a:t>
            </a:r>
            <a:endParaRPr lang="en-US" sz="1500" dirty="0"/>
          </a:p>
        </p:txBody>
      </p:sp>
      <p:sp>
        <p:nvSpPr>
          <p:cNvPr id="15" name="Text 5"/>
          <p:cNvSpPr/>
          <p:nvPr/>
        </p:nvSpPr>
        <p:spPr>
          <a:xfrm>
            <a:off x="548640" y="304495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train and deploy ML models using industry-standard frameworks</a:t>
            </a:r>
            <a:endParaRPr lang="en-US" sz="120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79392" y="2148840"/>
            <a:ext cx="3657600" cy="2148840"/>
          </a:xfrm>
          <a:prstGeom prst="rect">
            <a:avLst/>
          </a:prstGeom>
          <a:ln/>
        </p:spPr>
      </p:pic>
      <p:sp>
        <p:nvSpPr>
          <p:cNvPr id="17" name="Text 6"/>
          <p:cNvSpPr/>
          <p:nvPr/>
        </p:nvSpPr>
        <p:spPr>
          <a:xfrm>
            <a:off x="4480560" y="23774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0F5"/>
                </a:solidFill>
              </a:rPr>
              <a:t>💻</a:t>
            </a:r>
            <a:endParaRPr lang="en-US" sz="2800" dirty="0"/>
          </a:p>
        </p:txBody>
      </p:sp>
      <p:sp>
        <p:nvSpPr>
          <p:cNvPr id="18" name="Text 7"/>
          <p:cNvSpPr/>
          <p:nvPr/>
        </p:nvSpPr>
        <p:spPr>
          <a:xfrm>
            <a:off x="5303520" y="24048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500" dirty="0"/>
          </a:p>
        </p:txBody>
      </p:sp>
      <p:sp>
        <p:nvSpPr>
          <p:cNvPr id="19" name="Text 8"/>
          <p:cNvSpPr/>
          <p:nvPr/>
        </p:nvSpPr>
        <p:spPr>
          <a:xfrm>
            <a:off x="4480560" y="304495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coding in Python, TensorFlow, PyTorch, and OpenCV</a:t>
            </a:r>
            <a:endParaRPr lang="en-US" sz="120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1312" y="2148840"/>
            <a:ext cx="3657600" cy="2148840"/>
          </a:xfrm>
          <a:prstGeom prst="rect">
            <a:avLst/>
          </a:prstGeom>
          <a:ln/>
        </p:spPr>
      </p:pic>
      <p:sp>
        <p:nvSpPr>
          <p:cNvPr id="21" name="Text 9"/>
          <p:cNvSpPr/>
          <p:nvPr/>
        </p:nvSpPr>
        <p:spPr>
          <a:xfrm>
            <a:off x="8412480" y="23774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0F5"/>
                </a:solidFill>
              </a:rPr>
              <a:t>📊</a:t>
            </a:r>
            <a:endParaRPr lang="en-US" sz="2800" dirty="0"/>
          </a:p>
        </p:txBody>
      </p:sp>
      <p:sp>
        <p:nvSpPr>
          <p:cNvPr id="22" name="Text 10"/>
          <p:cNvSpPr/>
          <p:nvPr/>
        </p:nvSpPr>
        <p:spPr>
          <a:xfrm>
            <a:off x="9235440" y="24048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500" dirty="0"/>
          </a:p>
        </p:txBody>
      </p:sp>
      <p:sp>
        <p:nvSpPr>
          <p:cNvPr id="23" name="Text 11"/>
          <p:cNvSpPr/>
          <p:nvPr/>
        </p:nvSpPr>
        <p:spPr>
          <a:xfrm>
            <a:off x="8412480" y="304495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Analyze, visualize and interpret complex real-world datasets</a:t>
            </a:r>
            <a:endParaRPr lang="en-US" sz="120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7472" y="4480560"/>
            <a:ext cx="3657600" cy="2148840"/>
          </a:xfrm>
          <a:prstGeom prst="rect">
            <a:avLst/>
          </a:prstGeom>
          <a:ln/>
        </p:spPr>
      </p:pic>
      <p:sp>
        <p:nvSpPr>
          <p:cNvPr id="25" name="Text 12"/>
          <p:cNvSpPr/>
          <p:nvPr/>
        </p:nvSpPr>
        <p:spPr>
          <a:xfrm>
            <a:off x="548640" y="470916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0F5"/>
                </a:solidFill>
              </a:rPr>
              <a:t>🏆</a:t>
            </a:r>
            <a:endParaRPr lang="en-US" sz="2800" dirty="0"/>
          </a:p>
        </p:txBody>
      </p:sp>
      <p:sp>
        <p:nvSpPr>
          <p:cNvPr id="26" name="Text 13"/>
          <p:cNvSpPr/>
          <p:nvPr/>
        </p:nvSpPr>
        <p:spPr>
          <a:xfrm>
            <a:off x="1371600" y="47365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500" dirty="0"/>
          </a:p>
        </p:txBody>
      </p:sp>
      <p:sp>
        <p:nvSpPr>
          <p:cNvPr id="27" name="Text 14"/>
          <p:cNvSpPr/>
          <p:nvPr/>
        </p:nvSpPr>
        <p:spPr>
          <a:xfrm>
            <a:off x="548640" y="537667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Industry-recognized NextAIQ certification with global validity</a:t>
            </a:r>
            <a:endParaRPr lang="en-US" sz="12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79392" y="4480560"/>
            <a:ext cx="3657600" cy="2148840"/>
          </a:xfrm>
          <a:prstGeom prst="rect">
            <a:avLst/>
          </a:prstGeom>
          <a:ln/>
        </p:spPr>
      </p:pic>
      <p:sp>
        <p:nvSpPr>
          <p:cNvPr id="29" name="Text 15"/>
          <p:cNvSpPr/>
          <p:nvPr/>
        </p:nvSpPr>
        <p:spPr>
          <a:xfrm>
            <a:off x="4480560" y="470916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0F5"/>
                </a:solidFill>
              </a:rPr>
              <a:t>📁</a:t>
            </a:r>
            <a:endParaRPr lang="en-US" sz="2800" dirty="0"/>
          </a:p>
        </p:txBody>
      </p:sp>
      <p:sp>
        <p:nvSpPr>
          <p:cNvPr id="30" name="Text 16"/>
          <p:cNvSpPr/>
          <p:nvPr/>
        </p:nvSpPr>
        <p:spPr>
          <a:xfrm>
            <a:off x="5303520" y="47365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Portfolio</a:t>
            </a:r>
            <a:endParaRPr lang="en-US" sz="1500" dirty="0"/>
          </a:p>
        </p:txBody>
      </p:sp>
      <p:sp>
        <p:nvSpPr>
          <p:cNvPr id="31" name="Text 17"/>
          <p:cNvSpPr/>
          <p:nvPr/>
        </p:nvSpPr>
        <p:spPr>
          <a:xfrm>
            <a:off x="4480560" y="537667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with 3+ completed AI projects ready for job interviews</a:t>
            </a:r>
            <a:endParaRPr lang="en-US" sz="120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11312" y="4480560"/>
            <a:ext cx="3657600" cy="2148840"/>
          </a:xfrm>
          <a:prstGeom prst="rect">
            <a:avLst/>
          </a:prstGeom>
          <a:ln/>
        </p:spPr>
      </p:pic>
      <p:sp>
        <p:nvSpPr>
          <p:cNvPr id="33" name="Text 18"/>
          <p:cNvSpPr/>
          <p:nvPr/>
        </p:nvSpPr>
        <p:spPr>
          <a:xfrm>
            <a:off x="8412480" y="470916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0F5"/>
                </a:solidFill>
              </a:rPr>
              <a:t>🌐</a:t>
            </a:r>
            <a:endParaRPr lang="en-US" sz="2800" dirty="0"/>
          </a:p>
        </p:txBody>
      </p:sp>
      <p:sp>
        <p:nvSpPr>
          <p:cNvPr id="34" name="Text 19"/>
          <p:cNvSpPr/>
          <p:nvPr/>
        </p:nvSpPr>
        <p:spPr>
          <a:xfrm>
            <a:off x="9235440" y="47365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Network</a:t>
            </a:r>
            <a:endParaRPr lang="en-US" sz="1500" dirty="0"/>
          </a:p>
        </p:txBody>
      </p:sp>
      <p:sp>
        <p:nvSpPr>
          <p:cNvPr id="35" name="Text 20"/>
          <p:cNvSpPr/>
          <p:nvPr/>
        </p:nvSpPr>
        <p:spPr>
          <a:xfrm>
            <a:off x="8412480" y="537667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connections to 50+ hiring partners across AI &amp; tech sectors</a:t>
            </a:r>
            <a:endParaRPr lang="en-US" sz="1200" dirty="0"/>
          </a:p>
        </p:txBody>
      </p:sp>
      <p:pic>
        <p:nvPicPr>
          <p:cNvPr id="900" name="cert_badg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71632" y="5623560"/>
            <a:ext cx="2194560" cy="2194560"/>
          </a:xfrm>
          <a:prstGeom prst="rect">
            <a:avLst/>
          </a:prstGeom>
          <a:ln/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6700A3B-AEFE-CFE3-E699-EC427079144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-1828800"/>
            <a:ext cx="5029200" cy="50292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14400" y="3200400"/>
            <a:ext cx="3657600" cy="36576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97280" y="3200400"/>
            <a:ext cx="2743200" cy="2743200"/>
          </a:xfrm>
          <a:prstGeom prst="rect">
            <a:avLst/>
          </a:prstGeom>
          <a:ln/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  <a:ln/>
        </p:spPr>
      </p:pic>
      <p:sp>
        <p:nvSpPr>
          <p:cNvPr id="8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9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to the School Institution</a:t>
            </a:r>
            <a:endParaRPr lang="en-US" sz="3600" dirty="0"/>
          </a:p>
        </p:txBody>
      </p:sp>
      <p:sp>
        <p:nvSpPr>
          <p:cNvPr id="10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strategic advantages that transform your institution's competitive position</a:t>
            </a:r>
            <a:endParaRPr lang="en-US" sz="13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" y="2029968"/>
            <a:ext cx="5577840" cy="1481328"/>
          </a:xfrm>
          <a:prstGeom prst="rect">
            <a:avLst/>
          </a:prstGeom>
          <a:ln/>
        </p:spPr>
      </p:pic>
      <p:sp>
        <p:nvSpPr>
          <p:cNvPr id="13" name="Text 3"/>
          <p:cNvSpPr/>
          <p:nvPr/>
        </p:nvSpPr>
        <p:spPr>
          <a:xfrm>
            <a:off x="530352" y="2258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0F5"/>
                </a:solidFill>
              </a:rPr>
              <a:t>📈</a:t>
            </a:r>
            <a:endParaRPr lang="en-US" sz="2600" dirty="0"/>
          </a:p>
        </p:txBody>
      </p:sp>
      <p:sp>
        <p:nvSpPr>
          <p:cNvPr id="14" name="Text 4"/>
          <p:cNvSpPr/>
          <p:nvPr/>
        </p:nvSpPr>
        <p:spPr>
          <a:xfrm>
            <a:off x="1307592" y="22128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&amp; Reputation</a:t>
            </a:r>
            <a:endParaRPr lang="en-US" sz="1400" dirty="0"/>
          </a:p>
        </p:txBody>
      </p:sp>
      <p:sp>
        <p:nvSpPr>
          <p:cNvPr id="15" name="Text 5"/>
          <p:cNvSpPr/>
          <p:nvPr/>
        </p:nvSpPr>
        <p:spPr>
          <a:xfrm>
            <a:off x="1307592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NIRF and national rankings by adding cutting-edge AI programs — a key differentiator in 2025+</a:t>
            </a:r>
            <a:endParaRPr lang="en-US" sz="115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1072" y="2029968"/>
            <a:ext cx="5577840" cy="1481328"/>
          </a:xfrm>
          <a:prstGeom prst="rect">
            <a:avLst/>
          </a:prstGeom>
          <a:ln/>
        </p:spPr>
      </p:pic>
      <p:sp>
        <p:nvSpPr>
          <p:cNvPr id="17" name="Text 6"/>
          <p:cNvSpPr/>
          <p:nvPr/>
        </p:nvSpPr>
        <p:spPr>
          <a:xfrm>
            <a:off x="6473952" y="2258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0F5"/>
                </a:solidFill>
              </a:rPr>
              <a:t>💼</a:t>
            </a:r>
            <a:endParaRPr lang="en-US" sz="2600" dirty="0"/>
          </a:p>
        </p:txBody>
      </p:sp>
      <p:sp>
        <p:nvSpPr>
          <p:cNvPr id="18" name="Text 7"/>
          <p:cNvSpPr/>
          <p:nvPr/>
        </p:nvSpPr>
        <p:spPr>
          <a:xfrm>
            <a:off x="7251192" y="22128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Excellence</a:t>
            </a:r>
            <a:endParaRPr lang="en-US" sz="1400" dirty="0"/>
          </a:p>
        </p:txBody>
      </p:sp>
      <p:sp>
        <p:nvSpPr>
          <p:cNvPr id="19" name="Text 8"/>
          <p:cNvSpPr/>
          <p:nvPr/>
        </p:nvSpPr>
        <p:spPr>
          <a:xfrm>
            <a:off x="7251192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AI-trained students attract top recruiters — directly improving placement rates by an estimated 35–45%</a:t>
            </a:r>
            <a:endParaRPr lang="en-US" sz="115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472" y="2029968"/>
            <a:ext cx="5577840" cy="1481328"/>
          </a:xfrm>
          <a:prstGeom prst="rect">
            <a:avLst/>
          </a:prstGeom>
          <a:ln/>
        </p:spPr>
      </p:pic>
      <p:sp>
        <p:nvSpPr>
          <p:cNvPr id="21" name="Text 9"/>
          <p:cNvSpPr/>
          <p:nvPr/>
        </p:nvSpPr>
        <p:spPr>
          <a:xfrm>
            <a:off x="530352" y="2258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0F5"/>
                </a:solidFill>
              </a:rPr>
              <a:t>🎖️</a:t>
            </a:r>
            <a:endParaRPr lang="en-US" sz="2600" dirty="0"/>
          </a:p>
        </p:txBody>
      </p:sp>
      <p:sp>
        <p:nvSpPr>
          <p:cNvPr id="22" name="Text 10"/>
          <p:cNvSpPr/>
          <p:nvPr/>
        </p:nvSpPr>
        <p:spPr>
          <a:xfrm>
            <a:off x="1307592" y="22128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Accreditation</a:t>
            </a:r>
            <a:endParaRPr lang="en-US" sz="1400" dirty="0"/>
          </a:p>
        </p:txBody>
      </p:sp>
      <p:sp>
        <p:nvSpPr>
          <p:cNvPr id="23" name="Text 11"/>
          <p:cNvSpPr/>
          <p:nvPr/>
        </p:nvSpPr>
        <p:spPr>
          <a:xfrm>
            <a:off x="1307592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NEP 2020 and AICTE guidelines for future-ready curricula with our certified program framework</a:t>
            </a:r>
            <a:endParaRPr lang="en-US" sz="115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91072" y="3602736"/>
            <a:ext cx="5577840" cy="1481328"/>
          </a:xfrm>
          <a:prstGeom prst="rect">
            <a:avLst/>
          </a:prstGeom>
          <a:ln/>
        </p:spPr>
      </p:pic>
      <p:sp>
        <p:nvSpPr>
          <p:cNvPr id="25" name="Text 12"/>
          <p:cNvSpPr/>
          <p:nvPr/>
        </p:nvSpPr>
        <p:spPr>
          <a:xfrm>
            <a:off x="6473952" y="38313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0F5"/>
                </a:solidFill>
              </a:rPr>
              <a:t>💰</a:t>
            </a:r>
            <a:endParaRPr lang="en-US" sz="2600" dirty="0"/>
          </a:p>
        </p:txBody>
      </p:sp>
      <p:sp>
        <p:nvSpPr>
          <p:cNvPr id="26" name="Text 13"/>
          <p:cNvSpPr/>
          <p:nvPr/>
        </p:nvSpPr>
        <p:spPr>
          <a:xfrm>
            <a:off x="7251192" y="378561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Generation</a:t>
            </a:r>
            <a:endParaRPr lang="en-US" sz="1400" dirty="0"/>
          </a:p>
        </p:txBody>
      </p:sp>
      <p:sp>
        <p:nvSpPr>
          <p:cNvPr id="27" name="Text 14"/>
          <p:cNvSpPr/>
          <p:nvPr/>
        </p:nvSpPr>
        <p:spPr>
          <a:xfrm>
            <a:off x="7251192" y="4224528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NextAIQ certified courses as premium add-ons, creating new revenue streams for the institution</a:t>
            </a:r>
            <a:endParaRPr lang="en-US" sz="115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472" y="3602736"/>
            <a:ext cx="5577840" cy="1481328"/>
          </a:xfrm>
          <a:prstGeom prst="rect">
            <a:avLst/>
          </a:prstGeom>
          <a:ln/>
        </p:spPr>
      </p:pic>
      <p:sp>
        <p:nvSpPr>
          <p:cNvPr id="29" name="Text 15"/>
          <p:cNvSpPr/>
          <p:nvPr/>
        </p:nvSpPr>
        <p:spPr>
          <a:xfrm>
            <a:off x="530352" y="38313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0F5"/>
                </a:solidFill>
              </a:rPr>
              <a:t>🖥️</a:t>
            </a:r>
            <a:endParaRPr lang="en-US" sz="2600" dirty="0"/>
          </a:p>
        </p:txBody>
      </p:sp>
      <p:sp>
        <p:nvSpPr>
          <p:cNvPr id="30" name="Text 16"/>
          <p:cNvSpPr/>
          <p:nvPr/>
        </p:nvSpPr>
        <p:spPr>
          <a:xfrm>
            <a:off x="1307592" y="378561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Upgrade</a:t>
            </a:r>
            <a:endParaRPr lang="en-US" sz="1400" dirty="0"/>
          </a:p>
        </p:txBody>
      </p:sp>
      <p:sp>
        <p:nvSpPr>
          <p:cNvPr id="31" name="Text 17"/>
          <p:cNvSpPr/>
          <p:nvPr/>
        </p:nvSpPr>
        <p:spPr>
          <a:xfrm>
            <a:off x="1307592" y="4224528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AI lab infrastructure installed and maintained at no additional operational cost</a:t>
            </a:r>
            <a:endParaRPr lang="en-US" sz="115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1072" y="3602736"/>
            <a:ext cx="5577840" cy="1481328"/>
          </a:xfrm>
          <a:prstGeom prst="rect">
            <a:avLst/>
          </a:prstGeom>
          <a:ln/>
        </p:spPr>
      </p:pic>
      <p:sp>
        <p:nvSpPr>
          <p:cNvPr id="33" name="Text 18"/>
          <p:cNvSpPr/>
          <p:nvPr/>
        </p:nvSpPr>
        <p:spPr>
          <a:xfrm>
            <a:off x="6473952" y="38313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0F5"/>
                </a:solidFill>
              </a:rPr>
              <a:t>🌍</a:t>
            </a:r>
            <a:endParaRPr lang="en-US" sz="2600" dirty="0"/>
          </a:p>
        </p:txBody>
      </p:sp>
      <p:sp>
        <p:nvSpPr>
          <p:cNvPr id="34" name="Text 19"/>
          <p:cNvSpPr/>
          <p:nvPr/>
        </p:nvSpPr>
        <p:spPr>
          <a:xfrm>
            <a:off x="7251192" y="378561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Recognition</a:t>
            </a:r>
            <a:endParaRPr lang="en-US" sz="1400" dirty="0"/>
          </a:p>
        </p:txBody>
      </p:sp>
      <p:sp>
        <p:nvSpPr>
          <p:cNvPr id="35" name="Text 20"/>
          <p:cNvSpPr/>
          <p:nvPr/>
        </p:nvSpPr>
        <p:spPr>
          <a:xfrm>
            <a:off x="7251192" y="4224528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global AI organizations and universities for international student exchange and research</a:t>
            </a:r>
            <a:endParaRPr lang="en-US" sz="11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406AAC5-F1FA-AB94-FA0E-49F569DA598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71600" y="-1371600"/>
            <a:ext cx="5943600" cy="59436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2286000"/>
            <a:ext cx="5029200" cy="50292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0" y="5029200"/>
            <a:ext cx="1828800" cy="1828800"/>
          </a:xfrm>
          <a:prstGeom prst="rect">
            <a:avLst/>
          </a:prstGeom>
          <a:ln/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  <a:ln/>
        </p:spPr>
      </p:pic>
      <p:sp>
        <p:nvSpPr>
          <p:cNvPr id="8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9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Model &amp; Support Structure</a:t>
            </a:r>
            <a:endParaRPr lang="en-US" sz="3600" dirty="0"/>
          </a:p>
        </p:txBody>
      </p:sp>
      <p:sp>
        <p:nvSpPr>
          <p:cNvPr id="10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 4-phase rollout with dedicated support at every step</a:t>
            </a:r>
            <a:endParaRPr lang="en-US" sz="13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sp>
        <p:nvSpPr>
          <p:cNvPr id="12" name="Shape 3"/>
          <p:cNvSpPr/>
          <p:nvPr/>
        </p:nvSpPr>
        <p:spPr>
          <a:xfrm>
            <a:off x="1005840" y="2852928"/>
            <a:ext cx="10149840" cy="0"/>
          </a:xfrm>
          <a:prstGeom prst="line">
            <a:avLst/>
          </a:prstGeom>
          <a:noFill/>
          <a:ln w="25400">
            <a:solidFill>
              <a:srgbClr val="252545"/>
            </a:solidFill>
            <a:prstDash val="dash"/>
          </a:ln>
        </p:spPr>
        <p:txBody>
          <a:bodyPr/>
          <a:p/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" y="1993392"/>
            <a:ext cx="2761488" cy="1600200"/>
          </a:xfrm>
          <a:prstGeom prst="rect">
            <a:avLst/>
          </a:prstGeom>
          <a:ln/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2148840"/>
            <a:ext cx="530352" cy="530352"/>
          </a:xfrm>
          <a:prstGeom prst="rect">
            <a:avLst/>
          </a:prstGeom>
          <a:ln/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6152" y="2212848"/>
            <a:ext cx="1691640" cy="347472"/>
          </a:xfrm>
          <a:prstGeom prst="rect">
            <a:avLst/>
          </a:prstGeom>
          <a:ln/>
        </p:spPr>
      </p:pic>
      <p:sp>
        <p:nvSpPr>
          <p:cNvPr id="16" name="Text 4"/>
          <p:cNvSpPr/>
          <p:nvPr/>
        </p:nvSpPr>
        <p:spPr>
          <a:xfrm>
            <a:off x="1216152" y="22128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900" dirty="0"/>
          </a:p>
        </p:txBody>
      </p:sp>
      <p:sp>
        <p:nvSpPr>
          <p:cNvPr id="17" name="Text 5"/>
          <p:cNvSpPr/>
          <p:nvPr/>
        </p:nvSpPr>
        <p:spPr>
          <a:xfrm>
            <a:off x="512064" y="2788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Setup</a:t>
            </a:r>
            <a:endParaRPr lang="en-US" sz="1600" dirty="0"/>
          </a:p>
        </p:txBody>
      </p:sp>
      <p:sp>
        <p:nvSpPr>
          <p:cNvPr id="18" name="Shape 6"/>
          <p:cNvSpPr/>
          <p:nvPr/>
        </p:nvSpPr>
        <p:spPr>
          <a:xfrm>
            <a:off x="1517904" y="3657600"/>
            <a:ext cx="219456" cy="219456"/>
          </a:xfrm>
          <a:prstGeom prst="ellipse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  <p:txBody>
          <a:bodyPr/>
          <a:p/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00984" y="1993392"/>
            <a:ext cx="2761488" cy="1600200"/>
          </a:xfrm>
          <a:prstGeom prst="rect">
            <a:avLst/>
          </a:prstGeom>
          <a:ln/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02152" y="2148840"/>
            <a:ext cx="530352" cy="530352"/>
          </a:xfrm>
          <a:prstGeom prst="rect">
            <a:avLst/>
          </a:prstGeom>
          <a:ln/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69664" y="2212848"/>
            <a:ext cx="1691640" cy="347472"/>
          </a:xfrm>
          <a:prstGeom prst="rect">
            <a:avLst/>
          </a:prstGeom>
          <a:ln/>
        </p:spPr>
      </p:pic>
      <p:sp>
        <p:nvSpPr>
          <p:cNvPr id="22" name="Text 7"/>
          <p:cNvSpPr/>
          <p:nvPr/>
        </p:nvSpPr>
        <p:spPr>
          <a:xfrm>
            <a:off x="4169664" y="22128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3-6</a:t>
            </a:r>
            <a:endParaRPr lang="en-US" sz="900" dirty="0"/>
          </a:p>
        </p:txBody>
      </p:sp>
      <p:sp>
        <p:nvSpPr>
          <p:cNvPr id="23" name="Text 8"/>
          <p:cNvSpPr/>
          <p:nvPr/>
        </p:nvSpPr>
        <p:spPr>
          <a:xfrm>
            <a:off x="3465576" y="2788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600" dirty="0"/>
          </a:p>
        </p:txBody>
      </p:sp>
      <p:sp>
        <p:nvSpPr>
          <p:cNvPr id="24" name="Shape 9"/>
          <p:cNvSpPr/>
          <p:nvPr/>
        </p:nvSpPr>
        <p:spPr>
          <a:xfrm>
            <a:off x="4471416" y="3657600"/>
            <a:ext cx="219456" cy="21945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54496" y="1993392"/>
            <a:ext cx="2761488" cy="1600200"/>
          </a:xfrm>
          <a:prstGeom prst="rect">
            <a:avLst/>
          </a:prstGeom>
          <a:ln/>
        </p:spPr>
      </p:pic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55664" y="2148840"/>
            <a:ext cx="530352" cy="530352"/>
          </a:xfrm>
          <a:prstGeom prst="rect">
            <a:avLst/>
          </a:prstGeom>
          <a:ln/>
        </p:spPr>
      </p:pic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23176" y="2212848"/>
            <a:ext cx="1691640" cy="347472"/>
          </a:xfrm>
          <a:prstGeom prst="rect">
            <a:avLst/>
          </a:prstGeom>
          <a:ln/>
        </p:spPr>
      </p:pic>
      <p:sp>
        <p:nvSpPr>
          <p:cNvPr id="28" name="Text 10"/>
          <p:cNvSpPr/>
          <p:nvPr/>
        </p:nvSpPr>
        <p:spPr>
          <a:xfrm>
            <a:off x="7123176" y="22128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7-20</a:t>
            </a:r>
            <a:endParaRPr lang="en-US" sz="900" dirty="0"/>
          </a:p>
        </p:txBody>
      </p:sp>
      <p:sp>
        <p:nvSpPr>
          <p:cNvPr id="29" name="Text 11"/>
          <p:cNvSpPr/>
          <p:nvPr/>
        </p:nvSpPr>
        <p:spPr>
          <a:xfrm>
            <a:off x="6419088" y="2788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600" dirty="0"/>
          </a:p>
        </p:txBody>
      </p:sp>
      <p:sp>
        <p:nvSpPr>
          <p:cNvPr id="30" name="Shape 12"/>
          <p:cNvSpPr/>
          <p:nvPr/>
        </p:nvSpPr>
        <p:spPr>
          <a:xfrm>
            <a:off x="7424928" y="3657600"/>
            <a:ext cx="219456" cy="21945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pic>
        <p:nvPicPr>
          <p:cNvPr id="31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08008" y="1993392"/>
            <a:ext cx="2761488" cy="1600200"/>
          </a:xfrm>
          <a:prstGeom prst="rect">
            <a:avLst/>
          </a:prstGeom>
          <a:ln/>
        </p:spPr>
      </p:pic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09176" y="2148840"/>
            <a:ext cx="530352" cy="530352"/>
          </a:xfrm>
          <a:prstGeom prst="rect">
            <a:avLst/>
          </a:prstGeom>
          <a:ln/>
        </p:spPr>
      </p:pic>
      <p:pic>
        <p:nvPicPr>
          <p:cNvPr id="33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76688" y="2212848"/>
            <a:ext cx="1691640" cy="347472"/>
          </a:xfrm>
          <a:prstGeom prst="rect">
            <a:avLst/>
          </a:prstGeom>
          <a:ln/>
        </p:spPr>
      </p:pic>
      <p:sp>
        <p:nvSpPr>
          <p:cNvPr id="34" name="Text 13"/>
          <p:cNvSpPr/>
          <p:nvPr/>
        </p:nvSpPr>
        <p:spPr>
          <a:xfrm>
            <a:off x="10076688" y="22128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20+</a:t>
            </a:r>
            <a:endParaRPr lang="en-US" sz="900" dirty="0"/>
          </a:p>
        </p:txBody>
      </p:sp>
      <p:sp>
        <p:nvSpPr>
          <p:cNvPr id="35" name="Text 14"/>
          <p:cNvSpPr/>
          <p:nvPr/>
        </p:nvSpPr>
        <p:spPr>
          <a:xfrm>
            <a:off x="9372600" y="2788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 &amp;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600" dirty="0"/>
          </a:p>
        </p:txBody>
      </p:sp>
      <p:sp>
        <p:nvSpPr>
          <p:cNvPr id="36" name="Shape 15"/>
          <p:cNvSpPr/>
          <p:nvPr/>
        </p:nvSpPr>
        <p:spPr>
          <a:xfrm>
            <a:off x="10378440" y="3657600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7472" y="4069080"/>
            <a:ext cx="3566160" cy="1508760"/>
          </a:xfrm>
          <a:prstGeom prst="rect">
            <a:avLst/>
          </a:prstGeom>
          <a:ln/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79392" y="4069080"/>
            <a:ext cx="3566160" cy="1508760"/>
          </a:xfrm>
          <a:prstGeom prst="rect">
            <a:avLst/>
          </a:prstGeom>
          <a:ln/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11312" y="4069080"/>
            <a:ext cx="3566160" cy="1508760"/>
          </a:xfrm>
          <a:prstGeom prst="rect">
            <a:avLst/>
          </a:prstGeom>
          <a:ln/>
        </p:spPr>
      </p:pic>
      <p:sp>
        <p:nvSpPr>
          <p:cNvPr id="40" name="Text 16"/>
          <p:cNvSpPr/>
          <p:nvPr/>
        </p:nvSpPr>
        <p:spPr>
          <a:xfrm>
            <a:off x="594360" y="5760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Support</a:t>
            </a:r>
            <a:endParaRPr lang="en-US" sz="1400" dirty="0"/>
          </a:p>
        </p:txBody>
      </p:sp>
      <p:sp>
        <p:nvSpPr>
          <p:cNvPr id="41" name="Shape 17"/>
          <p:cNvSpPr/>
          <p:nvPr/>
        </p:nvSpPr>
        <p:spPr>
          <a:xfrm>
            <a:off x="594360" y="6263640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42" name="Text 18"/>
          <p:cNvSpPr/>
          <p:nvPr/>
        </p:nvSpPr>
        <p:spPr>
          <a:xfrm>
            <a:off x="795528" y="6172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Customer Success Manager per school</a:t>
            </a:r>
            <a:endParaRPr lang="en-US" sz="1200" dirty="0"/>
          </a:p>
        </p:txBody>
      </p:sp>
      <p:sp>
        <p:nvSpPr>
          <p:cNvPr id="43" name="Shape 19"/>
          <p:cNvSpPr/>
          <p:nvPr/>
        </p:nvSpPr>
        <p:spPr>
          <a:xfrm>
            <a:off x="6446520" y="6263640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44" name="Text 20"/>
          <p:cNvSpPr/>
          <p:nvPr/>
        </p:nvSpPr>
        <p:spPr>
          <a:xfrm>
            <a:off x="6647688" y="6172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progress reviews &amp; curriculum updates</a:t>
            </a:r>
            <a:endParaRPr lang="en-US" sz="1200" dirty="0"/>
          </a:p>
        </p:txBody>
      </p:sp>
      <p:sp>
        <p:nvSpPr>
          <p:cNvPr id="45" name="Shape 21"/>
          <p:cNvSpPr/>
          <p:nvPr/>
        </p:nvSpPr>
        <p:spPr>
          <a:xfrm>
            <a:off x="594360" y="6611112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46" name="Text 22"/>
          <p:cNvSpPr/>
          <p:nvPr/>
        </p:nvSpPr>
        <p:spPr>
          <a:xfrm>
            <a:off x="795528" y="651967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Technical helpdesk &amp; online portal access</a:t>
            </a:r>
            <a:endParaRPr lang="en-US" sz="1200" dirty="0"/>
          </a:p>
        </p:txBody>
      </p:sp>
      <p:sp>
        <p:nvSpPr>
          <p:cNvPr id="47" name="Shape 23"/>
          <p:cNvSpPr/>
          <p:nvPr/>
        </p:nvSpPr>
        <p:spPr>
          <a:xfrm>
            <a:off x="6446520" y="6611112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48" name="Text 24"/>
          <p:cNvSpPr/>
          <p:nvPr/>
        </p:nvSpPr>
        <p:spPr>
          <a:xfrm>
            <a:off x="6647688" y="651967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teacher re-certification workshops</a:t>
            </a:r>
            <a:endParaRPr lang="en-US" sz="12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3E70DD44-16C1-165D-3180-058F3990835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4400" y="2743200"/>
            <a:ext cx="4572000" cy="45720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-1371600"/>
            <a:ext cx="5029200" cy="50292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4114800"/>
            <a:ext cx="2743200" cy="2743200"/>
          </a:xfrm>
          <a:prstGeom prst="rect">
            <a:avLst/>
          </a:prstGeom>
          <a:ln/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  <a:ln/>
        </p:spPr>
      </p:pic>
      <p:sp>
        <p:nvSpPr>
          <p:cNvPr id="8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Structure &amp; Partnership Proposal</a:t>
            </a:r>
            <a:endParaRPr lang="en-US" sz="3600" dirty="0"/>
          </a:p>
        </p:txBody>
      </p:sp>
      <p:sp>
        <p:nvSpPr>
          <p:cNvPr id="10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tiers designed to fit every institution — from pilot to full campus transformation</a:t>
            </a:r>
            <a:endParaRPr lang="en-US" sz="13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sp>
        <p:nvSpPr>
          <p:cNvPr id="14" name="Text 3"/>
          <p:cNvSpPr/>
          <p:nvPr/>
        </p:nvSpPr>
        <p:spPr>
          <a:xfrm>
            <a:off x="530352" y="20848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4"/>
          <p:cNvSpPr/>
          <p:nvPr/>
        </p:nvSpPr>
        <p:spPr>
          <a:xfrm>
            <a:off x="530352" y="26060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6" name="Text 5"/>
          <p:cNvSpPr/>
          <p:nvPr/>
        </p:nvSpPr>
        <p:spPr>
          <a:xfrm>
            <a:off x="530352" y="318211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90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" y="3749040"/>
            <a:ext cx="2560320" cy="36576"/>
          </a:xfrm>
          <a:prstGeom prst="rect">
            <a:avLst/>
          </a:prstGeom>
          <a:ln/>
        </p:spPr>
      </p:pic>
      <p:sp>
        <p:nvSpPr>
          <p:cNvPr id="19" name="Text 7"/>
          <p:cNvSpPr/>
          <p:nvPr/>
        </p:nvSpPr>
        <p:spPr>
          <a:xfrm>
            <a:off x="749808" y="391363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749808" y="43342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11"/>
          <p:cNvSpPr/>
          <p:nvPr/>
        </p:nvSpPr>
        <p:spPr>
          <a:xfrm>
            <a:off x="749808" y="4754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13"/>
          <p:cNvSpPr/>
          <p:nvPr/>
        </p:nvSpPr>
        <p:spPr>
          <a:xfrm>
            <a:off x="749808" y="5175504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15"/>
          <p:cNvSpPr/>
          <p:nvPr/>
        </p:nvSpPr>
        <p:spPr>
          <a:xfrm>
            <a:off x="749808" y="55961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79392" y="1920240"/>
            <a:ext cx="3657600" cy="4434840"/>
          </a:xfrm>
          <a:prstGeom prst="rect">
            <a:avLst/>
          </a:prstGeom>
          <a:ln/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2272" y="2084832"/>
            <a:ext cx="2011680" cy="384048"/>
          </a:xfrm>
          <a:prstGeom prst="rect">
            <a:avLst/>
          </a:prstGeom>
          <a:ln/>
        </p:spPr>
      </p:pic>
      <p:sp>
        <p:nvSpPr>
          <p:cNvPr id="30" name="Text 16"/>
          <p:cNvSpPr/>
          <p:nvPr/>
        </p:nvSpPr>
        <p:spPr>
          <a:xfrm>
            <a:off x="4462272" y="20848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31" name="Text 17"/>
          <p:cNvSpPr/>
          <p:nvPr/>
        </p:nvSpPr>
        <p:spPr>
          <a:xfrm>
            <a:off x="4462272" y="26060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2600" dirty="0"/>
          </a:p>
        </p:txBody>
      </p:sp>
      <p:sp>
        <p:nvSpPr>
          <p:cNvPr id="32" name="Text 18"/>
          <p:cNvSpPr/>
          <p:nvPr/>
        </p:nvSpPr>
        <p:spPr>
          <a:xfrm>
            <a:off x="4462272" y="318211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₹9.5L / Year</a:t>
            </a:r>
            <a:endParaRPr lang="en-US" sz="19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62272" y="3749040"/>
            <a:ext cx="2560320" cy="36576"/>
          </a:xfrm>
          <a:prstGeom prst="rect">
            <a:avLst/>
          </a:prstGeom>
          <a:ln/>
        </p:spPr>
      </p:pic>
      <p:sp>
        <p:nvSpPr>
          <p:cNvPr id="34" name="Shape 19"/>
          <p:cNvSpPr/>
          <p:nvPr/>
        </p:nvSpPr>
        <p:spPr>
          <a:xfrm>
            <a:off x="4507992" y="4023360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35" name="Text 20"/>
          <p:cNvSpPr/>
          <p:nvPr/>
        </p:nvSpPr>
        <p:spPr>
          <a:xfrm>
            <a:off x="4681728" y="391363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AI Labs (60 seats)</a:t>
            </a:r>
            <a:endParaRPr lang="en-US" sz="1200" dirty="0"/>
          </a:p>
        </p:txBody>
      </p:sp>
      <p:sp>
        <p:nvSpPr>
          <p:cNvPr id="36" name="Shape 21"/>
          <p:cNvSpPr/>
          <p:nvPr/>
        </p:nvSpPr>
        <p:spPr>
          <a:xfrm>
            <a:off x="4507992" y="4443984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37" name="Text 22"/>
          <p:cNvSpPr/>
          <p:nvPr/>
        </p:nvSpPr>
        <p:spPr>
          <a:xfrm>
            <a:off x="4681728" y="43342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Batches (90 students)</a:t>
            </a:r>
            <a:endParaRPr lang="en-US" sz="1200" dirty="0"/>
          </a:p>
        </p:txBody>
      </p:sp>
      <p:sp>
        <p:nvSpPr>
          <p:cNvPr id="38" name="Shape 23"/>
          <p:cNvSpPr/>
          <p:nvPr/>
        </p:nvSpPr>
        <p:spPr>
          <a:xfrm>
            <a:off x="4507992" y="4864608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39" name="Text 24"/>
          <p:cNvSpPr/>
          <p:nvPr/>
        </p:nvSpPr>
        <p:spPr>
          <a:xfrm>
            <a:off x="4681728" y="4754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Curriculum</a:t>
            </a:r>
            <a:endParaRPr lang="en-US" sz="1200" dirty="0"/>
          </a:p>
        </p:txBody>
      </p:sp>
      <p:sp>
        <p:nvSpPr>
          <p:cNvPr id="40" name="Shape 25"/>
          <p:cNvSpPr/>
          <p:nvPr/>
        </p:nvSpPr>
        <p:spPr>
          <a:xfrm>
            <a:off x="4507992" y="5285232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41" name="Text 26"/>
          <p:cNvSpPr/>
          <p:nvPr/>
        </p:nvSpPr>
        <p:spPr>
          <a:xfrm>
            <a:off x="4681728" y="5175504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</a:t>
            </a:r>
            <a:endParaRPr lang="en-US" sz="1200" dirty="0"/>
          </a:p>
        </p:txBody>
      </p:sp>
      <p:sp>
        <p:nvSpPr>
          <p:cNvPr id="42" name="Shape 27"/>
          <p:cNvSpPr/>
          <p:nvPr/>
        </p:nvSpPr>
        <p:spPr>
          <a:xfrm>
            <a:off x="4507992" y="5705856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43" name="Text 28"/>
          <p:cNvSpPr/>
          <p:nvPr/>
        </p:nvSpPr>
        <p:spPr>
          <a:xfrm>
            <a:off x="4681728" y="55961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Certification</a:t>
            </a:r>
            <a:endParaRPr lang="en-US" sz="1200" dirty="0"/>
          </a:p>
        </p:txBody>
      </p:sp>
      <p:sp>
        <p:nvSpPr>
          <p:cNvPr id="44" name="Shape 29"/>
          <p:cNvSpPr/>
          <p:nvPr/>
        </p:nvSpPr>
        <p:spPr>
          <a:xfrm>
            <a:off x="4507992" y="6126480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45" name="Text 30"/>
          <p:cNvSpPr/>
          <p:nvPr/>
        </p:nvSpPr>
        <p:spPr>
          <a:xfrm>
            <a:off x="4681728" y="601675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Support</a:t>
            </a:r>
            <a:endParaRPr lang="en-US" sz="1200" dirty="0"/>
          </a:p>
        </p:txBody>
      </p:sp>
      <p:sp>
        <p:nvSpPr>
          <p:cNvPr id="48" name="Text 31"/>
          <p:cNvSpPr/>
          <p:nvPr/>
        </p:nvSpPr>
        <p:spPr>
          <a:xfrm>
            <a:off x="8394192" y="20848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9" name="Text 32"/>
          <p:cNvSpPr/>
          <p:nvPr/>
        </p:nvSpPr>
        <p:spPr>
          <a:xfrm>
            <a:off x="8394192" y="26060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50" name="Text 33"/>
          <p:cNvSpPr/>
          <p:nvPr/>
        </p:nvSpPr>
        <p:spPr>
          <a:xfrm>
            <a:off x="8394192" y="318211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53" name="Text 35"/>
          <p:cNvSpPr/>
          <p:nvPr/>
        </p:nvSpPr>
        <p:spPr>
          <a:xfrm>
            <a:off x="8613648" y="391363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5" name="Text 37"/>
          <p:cNvSpPr/>
          <p:nvPr/>
        </p:nvSpPr>
        <p:spPr>
          <a:xfrm>
            <a:off x="8613648" y="43342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7" name="Text 39"/>
          <p:cNvSpPr/>
          <p:nvPr/>
        </p:nvSpPr>
        <p:spPr>
          <a:xfrm>
            <a:off x="8613648" y="4754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9" name="Text 41"/>
          <p:cNvSpPr/>
          <p:nvPr/>
        </p:nvSpPr>
        <p:spPr>
          <a:xfrm>
            <a:off x="8613648" y="5175504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1" name="Text 43"/>
          <p:cNvSpPr/>
          <p:nvPr/>
        </p:nvSpPr>
        <p:spPr>
          <a:xfrm>
            <a:off x="8613648" y="55961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3" name="Text 45"/>
          <p:cNvSpPr/>
          <p:nvPr/>
        </p:nvSpPr>
        <p:spPr>
          <a:xfrm>
            <a:off x="8613648" y="601675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4" name="Text 46"/>
          <p:cNvSpPr/>
          <p:nvPr/>
        </p:nvSpPr>
        <p:spPr>
          <a:xfrm>
            <a:off x="594360" y="649224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*All pricing inclusive of setup, training &amp; first-year support</a:t>
            </a:r>
            <a:endParaRPr lang="en-US" sz="1000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91601E38-BD21-DF5C-1C3B-FE6FCF5C07E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-1828800"/>
            <a:ext cx="5029200" cy="50292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14400" y="3200400"/>
            <a:ext cx="3657600" cy="36576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0" y="457200"/>
            <a:ext cx="1828800" cy="1828800"/>
          </a:xfrm>
          <a:prstGeom prst="rect">
            <a:avLst/>
          </a:prstGeom>
          <a:ln/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  <a:ln/>
        </p:spPr>
      </p:pic>
      <p:sp>
        <p:nvSpPr>
          <p:cNvPr id="8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Long-Term Vision</a:t>
            </a:r>
            <a:endParaRPr lang="en-US" sz="3600" dirty="0"/>
          </a:p>
        </p:txBody>
      </p:sp>
      <p:sp>
        <p:nvSpPr>
          <p:cNvPr id="10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from 5 cities to national coverage — making India the global leader in AI-ready graduates</a:t>
            </a:r>
            <a:endParaRPr lang="en-US" sz="13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sp>
        <p:nvSpPr>
          <p:cNvPr id="12" name="Shape 3"/>
          <p:cNvSpPr/>
          <p:nvPr/>
        </p:nvSpPr>
        <p:spPr>
          <a:xfrm>
            <a:off x="731520" y="3730752"/>
            <a:ext cx="10698480" cy="0"/>
          </a:xfrm>
          <a:prstGeom prst="line">
            <a:avLst/>
          </a:prstGeom>
          <a:noFill/>
          <a:ln w="25400">
            <a:solidFill>
              <a:srgbClr val="252545"/>
            </a:solidFill>
            <a:prstDash val="solid"/>
          </a:ln>
        </p:spPr>
        <p:txBody>
          <a:bodyPr/>
          <a:p/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1828800"/>
            <a:ext cx="2560320" cy="1691640"/>
          </a:xfrm>
          <a:prstGeom prst="rect">
            <a:avLst/>
          </a:prstGeom>
          <a:ln/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1993392"/>
            <a:ext cx="2176272" cy="347472"/>
          </a:xfrm>
          <a:prstGeom prst="rect">
            <a:avLst/>
          </a:prstGeom>
          <a:ln/>
        </p:spPr>
      </p:pic>
      <p:sp>
        <p:nvSpPr>
          <p:cNvPr id="15" name="Text 4"/>
          <p:cNvSpPr/>
          <p:nvPr/>
        </p:nvSpPr>
        <p:spPr>
          <a:xfrm>
            <a:off x="777240" y="199339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Q1-Q2</a:t>
            </a:r>
            <a:endParaRPr lang="en-US" sz="1000" dirty="0"/>
          </a:p>
        </p:txBody>
      </p:sp>
      <p:sp>
        <p:nvSpPr>
          <p:cNvPr id="16" name="Text 5"/>
          <p:cNvSpPr/>
          <p:nvPr/>
        </p:nvSpPr>
        <p:spPr>
          <a:xfrm>
            <a:off x="777240" y="24505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Phase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777240" y="299923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Partner Schools</a:t>
            </a:r>
            <a:endParaRPr lang="en-US" sz="1200" dirty="0"/>
          </a:p>
        </p:txBody>
      </p:sp>
      <p:sp>
        <p:nvSpPr>
          <p:cNvPr id="18" name="Shape 7"/>
          <p:cNvSpPr/>
          <p:nvPr/>
        </p:nvSpPr>
        <p:spPr>
          <a:xfrm>
            <a:off x="1719072" y="3621024"/>
            <a:ext cx="219456" cy="219456"/>
          </a:xfrm>
          <a:prstGeom prst="ellipse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  <p:txBody>
          <a:bodyPr/>
          <a:p/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" y="4041648"/>
            <a:ext cx="2560320" cy="1874520"/>
          </a:xfrm>
          <a:prstGeom prst="rect">
            <a:avLst/>
          </a:prstGeom>
          <a:ln/>
        </p:spPr>
      </p:pic>
      <p:sp>
        <p:nvSpPr>
          <p:cNvPr id="20" name="Text 8"/>
          <p:cNvSpPr/>
          <p:nvPr/>
        </p:nvSpPr>
        <p:spPr>
          <a:xfrm>
            <a:off x="804672" y="41879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Cities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804672" y="46451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Students</a:t>
            </a:r>
            <a:endParaRPr lang="en-US" sz="14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" y="5102352"/>
            <a:ext cx="1463040" cy="36576"/>
          </a:xfrm>
          <a:prstGeom prst="rect">
            <a:avLst/>
          </a:prstGeom>
          <a:ln/>
        </p:spPr>
      </p:pic>
      <p:sp>
        <p:nvSpPr>
          <p:cNvPr id="23" name="Text 10"/>
          <p:cNvSpPr/>
          <p:nvPr/>
        </p:nvSpPr>
        <p:spPr>
          <a:xfrm>
            <a:off x="804672" y="52120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Phase</a:t>
            </a:r>
            <a:endParaRPr lang="en-US" sz="1100" dirty="0"/>
          </a:p>
        </p:txBody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4720" y="1828800"/>
            <a:ext cx="2560320" cy="1691640"/>
          </a:xfrm>
          <a:prstGeom prst="rect">
            <a:avLst/>
          </a:prstGeom>
          <a:ln/>
        </p:spPr>
      </p:pic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11880" y="1993392"/>
            <a:ext cx="2176272" cy="347472"/>
          </a:xfrm>
          <a:prstGeom prst="rect">
            <a:avLst/>
          </a:prstGeom>
          <a:ln/>
        </p:spPr>
      </p:pic>
      <p:sp>
        <p:nvSpPr>
          <p:cNvPr id="26" name="Text 11"/>
          <p:cNvSpPr/>
          <p:nvPr/>
        </p:nvSpPr>
        <p:spPr>
          <a:xfrm>
            <a:off x="3611880" y="199339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Q3-Q4</a:t>
            </a:r>
            <a:endParaRPr lang="en-US" sz="1000" dirty="0"/>
          </a:p>
        </p:txBody>
      </p:sp>
      <p:sp>
        <p:nvSpPr>
          <p:cNvPr id="27" name="Text 12"/>
          <p:cNvSpPr/>
          <p:nvPr/>
        </p:nvSpPr>
        <p:spPr>
          <a:xfrm>
            <a:off x="3611880" y="24505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Phase</a:t>
            </a:r>
            <a:endParaRPr lang="en-US" sz="1600" dirty="0"/>
          </a:p>
        </p:txBody>
      </p:sp>
      <p:sp>
        <p:nvSpPr>
          <p:cNvPr id="28" name="Text 13"/>
          <p:cNvSpPr/>
          <p:nvPr/>
        </p:nvSpPr>
        <p:spPr>
          <a:xfrm>
            <a:off x="3611880" y="299923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Schools</a:t>
            </a:r>
            <a:endParaRPr lang="en-US" sz="1200" dirty="0"/>
          </a:p>
        </p:txBody>
      </p:sp>
      <p:sp>
        <p:nvSpPr>
          <p:cNvPr id="29" name="Shape 14"/>
          <p:cNvSpPr/>
          <p:nvPr/>
        </p:nvSpPr>
        <p:spPr>
          <a:xfrm>
            <a:off x="4553712" y="3621024"/>
            <a:ext cx="219456" cy="21945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4720" y="4041648"/>
            <a:ext cx="2560320" cy="1874520"/>
          </a:xfrm>
          <a:prstGeom prst="rect">
            <a:avLst/>
          </a:prstGeom>
          <a:ln/>
        </p:spPr>
      </p:pic>
      <p:sp>
        <p:nvSpPr>
          <p:cNvPr id="31" name="Text 15"/>
          <p:cNvSpPr/>
          <p:nvPr/>
        </p:nvSpPr>
        <p:spPr>
          <a:xfrm>
            <a:off x="3639312" y="41879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Cities</a:t>
            </a:r>
            <a:endParaRPr lang="en-US" sz="1500" dirty="0"/>
          </a:p>
        </p:txBody>
      </p:sp>
      <p:sp>
        <p:nvSpPr>
          <p:cNvPr id="32" name="Text 16"/>
          <p:cNvSpPr/>
          <p:nvPr/>
        </p:nvSpPr>
        <p:spPr>
          <a:xfrm>
            <a:off x="3639312" y="46451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Students</a:t>
            </a:r>
            <a:endParaRPr lang="en-US" sz="1400" dirty="0"/>
          </a:p>
        </p:txBody>
      </p:sp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39312" y="5102352"/>
            <a:ext cx="1463040" cy="36576"/>
          </a:xfrm>
          <a:prstGeom prst="rect">
            <a:avLst/>
          </a:prstGeom>
          <a:ln/>
        </p:spPr>
      </p:pic>
      <p:sp>
        <p:nvSpPr>
          <p:cNvPr id="34" name="Text 17"/>
          <p:cNvSpPr/>
          <p:nvPr/>
        </p:nvSpPr>
        <p:spPr>
          <a:xfrm>
            <a:off x="3639312" y="52120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Phase</a:t>
            </a:r>
            <a:endParaRPr lang="en-US" sz="1100" dirty="0"/>
          </a:p>
        </p:txBody>
      </p:sp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09360" y="1828800"/>
            <a:ext cx="2560320" cy="1691640"/>
          </a:xfrm>
          <a:prstGeom prst="rect">
            <a:avLst/>
          </a:prstGeom>
          <a:ln/>
        </p:spPr>
      </p:pic>
      <p:pic>
        <p:nvPicPr>
          <p:cNvPr id="36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46520" y="1993392"/>
            <a:ext cx="2176272" cy="347472"/>
          </a:xfrm>
          <a:prstGeom prst="rect">
            <a:avLst/>
          </a:prstGeom>
          <a:ln/>
        </p:spPr>
      </p:pic>
      <p:sp>
        <p:nvSpPr>
          <p:cNvPr id="37" name="Text 18"/>
          <p:cNvSpPr/>
          <p:nvPr/>
        </p:nvSpPr>
        <p:spPr>
          <a:xfrm>
            <a:off x="6446520" y="199339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Q1-Q2</a:t>
            </a:r>
            <a:endParaRPr lang="en-US" sz="1000" dirty="0"/>
          </a:p>
        </p:txBody>
      </p:sp>
      <p:sp>
        <p:nvSpPr>
          <p:cNvPr id="38" name="Text 19"/>
          <p:cNvSpPr/>
          <p:nvPr/>
        </p:nvSpPr>
        <p:spPr>
          <a:xfrm>
            <a:off x="6446520" y="24505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Phase</a:t>
            </a:r>
            <a:endParaRPr lang="en-US" sz="1600" dirty="0"/>
          </a:p>
        </p:txBody>
      </p:sp>
      <p:sp>
        <p:nvSpPr>
          <p:cNvPr id="39" name="Text 20"/>
          <p:cNvSpPr/>
          <p:nvPr/>
        </p:nvSpPr>
        <p:spPr>
          <a:xfrm>
            <a:off x="6446520" y="299923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Schools</a:t>
            </a:r>
            <a:endParaRPr lang="en-US" sz="1200" dirty="0"/>
          </a:p>
        </p:txBody>
      </p:sp>
      <p:sp>
        <p:nvSpPr>
          <p:cNvPr id="40" name="Shape 21"/>
          <p:cNvSpPr/>
          <p:nvPr/>
        </p:nvSpPr>
        <p:spPr>
          <a:xfrm>
            <a:off x="7388352" y="3621024"/>
            <a:ext cx="219456" cy="21945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pic>
        <p:nvPicPr>
          <p:cNvPr id="41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09360" y="4041648"/>
            <a:ext cx="2560320" cy="1874520"/>
          </a:xfrm>
          <a:prstGeom prst="rect">
            <a:avLst/>
          </a:prstGeom>
          <a:ln/>
        </p:spPr>
      </p:pic>
      <p:sp>
        <p:nvSpPr>
          <p:cNvPr id="42" name="Text 22"/>
          <p:cNvSpPr/>
          <p:nvPr/>
        </p:nvSpPr>
        <p:spPr>
          <a:xfrm>
            <a:off x="6473952" y="41879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Cities</a:t>
            </a:r>
            <a:endParaRPr lang="en-US" sz="1500" dirty="0"/>
          </a:p>
        </p:txBody>
      </p:sp>
      <p:sp>
        <p:nvSpPr>
          <p:cNvPr id="43" name="Text 23"/>
          <p:cNvSpPr/>
          <p:nvPr/>
        </p:nvSpPr>
        <p:spPr>
          <a:xfrm>
            <a:off x="6473952" y="46451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400" dirty="0"/>
          </a:p>
        </p:txBody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3952" y="5102352"/>
            <a:ext cx="1463040" cy="36576"/>
          </a:xfrm>
          <a:prstGeom prst="rect">
            <a:avLst/>
          </a:prstGeom>
          <a:ln/>
        </p:spPr>
      </p:pic>
      <p:sp>
        <p:nvSpPr>
          <p:cNvPr id="45" name="Text 24"/>
          <p:cNvSpPr/>
          <p:nvPr/>
        </p:nvSpPr>
        <p:spPr>
          <a:xfrm>
            <a:off x="6473952" y="52120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Phase</a:t>
            </a:r>
            <a:endParaRPr lang="en-US" sz="1100" dirty="0"/>
          </a:p>
        </p:txBody>
      </p:sp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44000" y="1828800"/>
            <a:ext cx="2560320" cy="1691640"/>
          </a:xfrm>
          <a:prstGeom prst="rect">
            <a:avLst/>
          </a:prstGeom>
          <a:ln/>
        </p:spPr>
      </p:pic>
      <p:pic>
        <p:nvPicPr>
          <p:cNvPr id="47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81160" y="1993392"/>
            <a:ext cx="2176272" cy="347472"/>
          </a:xfrm>
          <a:prstGeom prst="rect">
            <a:avLst/>
          </a:prstGeom>
          <a:ln/>
        </p:spPr>
      </p:pic>
      <p:sp>
        <p:nvSpPr>
          <p:cNvPr id="48" name="Text 25"/>
          <p:cNvSpPr/>
          <p:nvPr/>
        </p:nvSpPr>
        <p:spPr>
          <a:xfrm>
            <a:off x="9281160" y="199339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Onwards</a:t>
            </a:r>
            <a:endParaRPr lang="en-US" sz="1000" dirty="0"/>
          </a:p>
        </p:txBody>
      </p:sp>
      <p:sp>
        <p:nvSpPr>
          <p:cNvPr id="49" name="Text 26"/>
          <p:cNvSpPr/>
          <p:nvPr/>
        </p:nvSpPr>
        <p:spPr>
          <a:xfrm>
            <a:off x="9281160" y="24505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Phase</a:t>
            </a:r>
            <a:endParaRPr lang="en-US" sz="1600" dirty="0"/>
          </a:p>
        </p:txBody>
      </p:sp>
      <p:sp>
        <p:nvSpPr>
          <p:cNvPr id="50" name="Text 27"/>
          <p:cNvSpPr/>
          <p:nvPr/>
        </p:nvSpPr>
        <p:spPr>
          <a:xfrm>
            <a:off x="9281160" y="299923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2000+ Schools</a:t>
            </a:r>
            <a:endParaRPr lang="en-US" sz="1200" dirty="0"/>
          </a:p>
        </p:txBody>
      </p:sp>
      <p:sp>
        <p:nvSpPr>
          <p:cNvPr id="51" name="Shape 28"/>
          <p:cNvSpPr/>
          <p:nvPr/>
        </p:nvSpPr>
        <p:spPr>
          <a:xfrm>
            <a:off x="10222992" y="3621024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pic>
        <p:nvPicPr>
          <p:cNvPr id="52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44000" y="4041648"/>
            <a:ext cx="2560320" cy="1874520"/>
          </a:xfrm>
          <a:prstGeom prst="rect">
            <a:avLst/>
          </a:prstGeom>
          <a:ln/>
        </p:spPr>
      </p:pic>
      <p:sp>
        <p:nvSpPr>
          <p:cNvPr id="53" name="Text 29"/>
          <p:cNvSpPr/>
          <p:nvPr/>
        </p:nvSpPr>
        <p:spPr>
          <a:xfrm>
            <a:off x="9308592" y="41879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Coverage</a:t>
            </a:r>
            <a:endParaRPr lang="en-US" sz="1500" dirty="0"/>
          </a:p>
        </p:txBody>
      </p:sp>
      <p:sp>
        <p:nvSpPr>
          <p:cNvPr id="54" name="Text 30"/>
          <p:cNvSpPr/>
          <p:nvPr/>
        </p:nvSpPr>
        <p:spPr>
          <a:xfrm>
            <a:off x="9308592" y="46451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Partnerships</a:t>
            </a:r>
            <a:endParaRPr lang="en-US" sz="1400" dirty="0"/>
          </a:p>
        </p:txBody>
      </p:sp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08592" y="5102352"/>
            <a:ext cx="1463040" cy="36576"/>
          </a:xfrm>
          <a:prstGeom prst="rect">
            <a:avLst/>
          </a:prstGeom>
          <a:ln/>
        </p:spPr>
      </p:pic>
      <p:sp>
        <p:nvSpPr>
          <p:cNvPr id="56" name="Text 31"/>
          <p:cNvSpPr/>
          <p:nvPr/>
        </p:nvSpPr>
        <p:spPr>
          <a:xfrm>
            <a:off x="9308592" y="52120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Phase</a:t>
            </a:r>
            <a:endParaRPr lang="en-US" sz="1100" dirty="0"/>
          </a:p>
        </p:txBody>
      </p:sp>
      <p:pic>
        <p:nvPicPr>
          <p:cNvPr id="57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65760" y="6263640"/>
            <a:ext cx="11430000" cy="530352"/>
          </a:xfrm>
          <a:prstGeom prst="rect">
            <a:avLst/>
          </a:prstGeom>
          <a:ln/>
        </p:spPr>
      </p:pic>
      <p:sp>
        <p:nvSpPr>
          <p:cNvPr id="58" name="Text 32"/>
          <p:cNvSpPr/>
          <p:nvPr/>
        </p:nvSpPr>
        <p:spPr>
          <a:xfrm>
            <a:off x="457200" y="6291072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Vision: Make India the global leader in AI-ready graduates by 2030 — 10 million students, 10,000 schools</a:t>
            </a:r>
            <a:endParaRPr lang="en-US" sz="13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A74CCFFC-D0F0-4732-63FA-67B8AD90FF8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  <a:ln/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88" y="27432"/>
            <a:ext cx="12161520" cy="6858000"/>
          </a:xfrm>
          <a:prstGeom prst="rect">
            <a:avLst/>
          </a:prstGeom>
          <a:ln/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71600" y="-1371600"/>
            <a:ext cx="5943600" cy="5943600"/>
          </a:xfrm>
          <a:prstGeom prst="rect">
            <a:avLst/>
          </a:prstGeom>
          <a:ln/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2286000"/>
            <a:ext cx="5029200" cy="5029200"/>
          </a:xfrm>
          <a:prstGeom prst="rect">
            <a:avLst/>
          </a:prstGeom>
          <a:ln/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2743200"/>
            <a:ext cx="3200400" cy="3200400"/>
          </a:xfrm>
          <a:prstGeom prst="rect">
            <a:avLst/>
          </a:prstGeom>
          <a:ln/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57200" y="3657600"/>
            <a:ext cx="2286000" cy="2286000"/>
          </a:xfrm>
          <a:prstGeom prst="rect">
            <a:avLst/>
          </a:prstGeom>
          <a:ln/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  <a:ln/>
        </p:spPr>
      </p:pic>
      <p:sp>
        <p:nvSpPr>
          <p:cNvPr id="9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0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Collaboration</a:t>
            </a:r>
            <a:endParaRPr lang="en-US" sz="3600" dirty="0"/>
          </a:p>
        </p:txBody>
      </p:sp>
      <p:sp>
        <p:nvSpPr>
          <p:cNvPr id="11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institution's AI transformation journey today</a:t>
            </a:r>
            <a:endParaRPr lang="en-US" sz="130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  <a:ln/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72" y="2057400"/>
            <a:ext cx="2761488" cy="2084832"/>
          </a:xfrm>
          <a:prstGeom prst="rect">
            <a:avLst/>
          </a:prstGeom>
          <a:ln/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2212848"/>
            <a:ext cx="585216" cy="585216"/>
          </a:xfrm>
          <a:prstGeom prst="rect">
            <a:avLst/>
          </a:prstGeom>
          <a:ln/>
        </p:spPr>
      </p:pic>
      <p:sp>
        <p:nvSpPr>
          <p:cNvPr id="15" name="Text 3"/>
          <p:cNvSpPr/>
          <p:nvPr/>
        </p:nvSpPr>
        <p:spPr>
          <a:xfrm>
            <a:off x="512064" y="29077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Meeting</a:t>
            </a:r>
            <a:endParaRPr lang="en-US" sz="1500" dirty="0"/>
          </a:p>
        </p:txBody>
      </p:sp>
      <p:sp>
        <p:nvSpPr>
          <p:cNvPr id="16" name="Text 4"/>
          <p:cNvSpPr/>
          <p:nvPr/>
        </p:nvSpPr>
        <p:spPr>
          <a:xfrm>
            <a:off x="512064" y="345643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60-minute discovery call with your leadership team</a:t>
            </a:r>
            <a:endParaRPr lang="en-US" sz="1150" dirty="0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00984" y="2057400"/>
            <a:ext cx="2761488" cy="2084832"/>
          </a:xfrm>
          <a:prstGeom prst="rect">
            <a:avLst/>
          </a:prstGeom>
          <a:ln/>
        </p:spPr>
      </p:pic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02152" y="2212848"/>
            <a:ext cx="585216" cy="585216"/>
          </a:xfrm>
          <a:prstGeom prst="rect">
            <a:avLst/>
          </a:prstGeom>
          <a:ln/>
        </p:spPr>
      </p:pic>
      <p:sp>
        <p:nvSpPr>
          <p:cNvPr id="19" name="Text 5"/>
          <p:cNvSpPr/>
          <p:nvPr/>
        </p:nvSpPr>
        <p:spPr>
          <a:xfrm>
            <a:off x="3465576" y="29077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Assessment</a:t>
            </a:r>
            <a:endParaRPr lang="en-US" sz="1500" dirty="0"/>
          </a:p>
        </p:txBody>
      </p:sp>
      <p:sp>
        <p:nvSpPr>
          <p:cNvPr id="20" name="Text 6"/>
          <p:cNvSpPr/>
          <p:nvPr/>
        </p:nvSpPr>
        <p:spPr>
          <a:xfrm>
            <a:off x="3465576" y="345643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conducts a free infrastructure and curriculum audit</a:t>
            </a:r>
            <a:endParaRPr lang="en-US" sz="1150" dirty="0"/>
          </a:p>
        </p:txBody>
      </p:sp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54496" y="2057400"/>
            <a:ext cx="2761488" cy="2084832"/>
          </a:xfrm>
          <a:prstGeom prst="rect">
            <a:avLst/>
          </a:prstGeom>
          <a:ln/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5664" y="2212848"/>
            <a:ext cx="585216" cy="585216"/>
          </a:xfrm>
          <a:prstGeom prst="rect">
            <a:avLst/>
          </a:prstGeom>
          <a:ln/>
        </p:spPr>
      </p:pic>
      <p:sp>
        <p:nvSpPr>
          <p:cNvPr id="23" name="Text 7"/>
          <p:cNvSpPr/>
          <p:nvPr/>
        </p:nvSpPr>
        <p:spPr>
          <a:xfrm>
            <a:off x="6419088" y="29077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Proposal</a:t>
            </a:r>
            <a:endParaRPr lang="en-US" sz="1500" dirty="0"/>
          </a:p>
        </p:txBody>
      </p:sp>
      <p:sp>
        <p:nvSpPr>
          <p:cNvPr id="24" name="Text 8"/>
          <p:cNvSpPr/>
          <p:nvPr/>
        </p:nvSpPr>
        <p:spPr>
          <a:xfrm>
            <a:off x="6419088" y="345643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deliver a tailored program proposal within 5 business days</a:t>
            </a:r>
            <a:endParaRPr lang="en-US" sz="115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08008" y="2057400"/>
            <a:ext cx="2761488" cy="2084832"/>
          </a:xfrm>
          <a:prstGeom prst="rect">
            <a:avLst/>
          </a:prstGeom>
          <a:ln/>
        </p:spPr>
      </p:pic>
      <p:pic>
        <p:nvPicPr>
          <p:cNvPr id="26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09176" y="2212848"/>
            <a:ext cx="585216" cy="585216"/>
          </a:xfrm>
          <a:prstGeom prst="rect">
            <a:avLst/>
          </a:prstGeom>
          <a:ln/>
        </p:spPr>
      </p:pic>
      <p:sp>
        <p:nvSpPr>
          <p:cNvPr id="27" name="Text 9"/>
          <p:cNvSpPr/>
          <p:nvPr/>
        </p:nvSpPr>
        <p:spPr>
          <a:xfrm>
            <a:off x="9372600" y="29077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Agreement</a:t>
            </a:r>
            <a:endParaRPr lang="en-US" sz="1500" dirty="0"/>
          </a:p>
        </p:txBody>
      </p:sp>
      <p:sp>
        <p:nvSpPr>
          <p:cNvPr id="28" name="Text 10"/>
          <p:cNvSpPr/>
          <p:nvPr/>
        </p:nvSpPr>
        <p:spPr>
          <a:xfrm>
            <a:off x="9372600" y="345643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MOU and kick off a 30-student pilot at zero extra risk</a:t>
            </a:r>
            <a:endParaRPr lang="en-US" sz="1150" dirty="0"/>
          </a:p>
        </p:txBody>
      </p:sp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7472" y="4407408"/>
            <a:ext cx="5623560" cy="2176272"/>
          </a:xfrm>
          <a:prstGeom prst="rect">
            <a:avLst/>
          </a:prstGeom>
          <a:ln/>
        </p:spPr>
      </p:pic>
      <p:sp>
        <p:nvSpPr>
          <p:cNvPr id="30" name="Text 11"/>
          <p:cNvSpPr/>
          <p:nvPr/>
        </p:nvSpPr>
        <p:spPr>
          <a:xfrm>
            <a:off x="530352" y="4590288"/>
            <a:ext cx="5257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</a:t>
            </a:r>
            <a:endParaRPr lang="en-US" sz="2000" dirty="0"/>
          </a:p>
        </p:txBody>
      </p:sp>
      <p:sp>
        <p:nvSpPr>
          <p:cNvPr id="31" name="Text 12"/>
          <p:cNvSpPr/>
          <p:nvPr/>
        </p:nvSpPr>
        <p:spPr>
          <a:xfrm>
            <a:off x="530352" y="5193792"/>
            <a:ext cx="5257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edu@nextaiq.in</a:t>
            </a:r>
            <a:endParaRPr lang="en-US" sz="1350" dirty="0"/>
          </a:p>
        </p:txBody>
      </p:sp>
      <p:sp>
        <p:nvSpPr>
          <p:cNvPr id="32" name="Text 13"/>
          <p:cNvSpPr/>
          <p:nvPr/>
        </p:nvSpPr>
        <p:spPr>
          <a:xfrm>
            <a:off x="530352" y="5632704"/>
            <a:ext cx="5257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+91 98765 43210</a:t>
            </a:r>
            <a:endParaRPr lang="en-US" sz="1350" dirty="0"/>
          </a:p>
        </p:txBody>
      </p:sp>
      <p:sp>
        <p:nvSpPr>
          <p:cNvPr id="33" name="Text 14"/>
          <p:cNvSpPr/>
          <p:nvPr/>
        </p:nvSpPr>
        <p:spPr>
          <a:xfrm>
            <a:off x="530352" y="6071616"/>
            <a:ext cx="5257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www.nextaiq.in/edu</a:t>
            </a:r>
            <a:endParaRPr lang="en-US" sz="1350" dirty="0"/>
          </a:p>
        </p:txBody>
      </p:sp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09360" y="4526280"/>
            <a:ext cx="5349240" cy="896112"/>
          </a:xfrm>
          <a:prstGeom prst="rect">
            <a:avLst/>
          </a:prstGeom>
          <a:ln/>
        </p:spPr>
      </p:pic>
      <p:sp>
        <p:nvSpPr>
          <p:cNvPr id="35" name="Text 15"/>
          <p:cNvSpPr/>
          <p:nvPr/>
        </p:nvSpPr>
        <p:spPr>
          <a:xfrm>
            <a:off x="6309360" y="4526280"/>
            <a:ext cx="5349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  →</a:t>
            </a:r>
            <a:endParaRPr lang="en-US" sz="1900" dirty="0"/>
          </a:p>
        </p:txBody>
      </p:sp>
      <p:sp>
        <p:nvSpPr>
          <p:cNvPr id="36" name="Text 16"/>
          <p:cNvSpPr/>
          <p:nvPr/>
        </p:nvSpPr>
        <p:spPr>
          <a:xfrm>
            <a:off x="6309360" y="548640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37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institution's AI transformation journey today</a:t>
            </a:r>
            <a:endParaRPr lang="en-US" sz="1200" dirty="0"/>
          </a:p>
        </p:txBody>
      </p:sp>
      <p:sp>
        <p:nvSpPr>
          <p:cNvPr id="40" name="Shape 17"/>
          <p:cNvSpPr/>
          <p:nvPr/>
        </p:nvSpPr>
        <p:spPr>
          <a:xfrm>
            <a:off x="-18288" y="6858000"/>
            <a:ext cx="12161520" cy="0"/>
          </a:xfrm>
          <a:prstGeom prst="line">
            <a:avLst/>
          </a:prstGeom>
          <a:noFill/>
          <a:ln w="12700">
            <a:solidFill>
              <a:srgbClr val="252545"/>
            </a:solidFill>
            <a:prstDash val="solid"/>
          </a:ln>
        </p:spPr>
        <p:txBody>
          <a:bodyPr/>
          <a:p/>
        </p:txBody>
      </p:sp>
      <p:sp>
        <p:nvSpPr>
          <p:cNvPr id="41" name="Text 18"/>
          <p:cNvSpPr/>
          <p:nvPr/>
        </p:nvSpPr>
        <p:spPr>
          <a:xfrm>
            <a:off x="-109728" y="661111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kern="0" spc="1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Education. Empowering Futures.  ·  Powered by NextAIQ.</a:t>
            </a:r>
            <a:endParaRPr lang="en-US" sz="1050" dirty="0"/>
          </a:p>
        </p:txBody>
      </p:sp>
      <p:pic>
        <p:nvPicPr>
          <p:cNvPr id="900" name="roadmap_viz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85864" y="5554980"/>
            <a:ext cx="6126480" cy="1234440"/>
          </a:xfrm>
          <a:prstGeom prst="rect">
            <a:avLst/>
          </a:prstGeom>
          <a:ln/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F240FD3-838E-4B90-3A1A-A134EC26AB9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  <a:ln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1783</Words>
  <Application>Microsoft Macintosh PowerPoint</Application>
  <PresentationFormat>Widescreen</PresentationFormat>
  <Paragraphs>353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Prince Yadav</cp:lastModifiedBy>
  <cp:revision>2</cp:revision>
  <dcterms:created xsi:type="dcterms:W3CDTF">2026-02-28T17:27:36Z</dcterms:created>
  <dcterms:modified xsi:type="dcterms:W3CDTF">2026-02-28T19:19:21Z</dcterms:modified>
</cp:coreProperties>
</file>